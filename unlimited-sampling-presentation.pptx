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66" r:id="rId3"/>
    <p:sldId id="265" r:id="rId4"/>
    <p:sldId id="267" r:id="rId5"/>
    <p:sldId id="259" r:id="rId6"/>
    <p:sldId id="264" r:id="rId7"/>
    <p:sldId id="268" r:id="rId8"/>
    <p:sldId id="269" r:id="rId9"/>
    <p:sldId id="271" r:id="rId10"/>
    <p:sldId id="277" r:id="rId11"/>
    <p:sldId id="278" r:id="rId12"/>
    <p:sldId id="279" r:id="rId13"/>
    <p:sldId id="280" r:id="rId14"/>
    <p:sldId id="281" r:id="rId15"/>
    <p:sldId id="282" r:id="rId16"/>
    <p:sldId id="283" r:id="rId17"/>
    <p:sldId id="297" r:id="rId18"/>
    <p:sldId id="284" r:id="rId19"/>
    <p:sldId id="285" r:id="rId20"/>
    <p:sldId id="286" r:id="rId21"/>
    <p:sldId id="287" r:id="rId22"/>
    <p:sldId id="288" r:id="rId23"/>
    <p:sldId id="289" r:id="rId24"/>
    <p:sldId id="290" r:id="rId25"/>
    <p:sldId id="299" r:id="rId26"/>
    <p:sldId id="276" r:id="rId27"/>
    <p:sldId id="292" r:id="rId28"/>
    <p:sldId id="301" r:id="rId29"/>
    <p:sldId id="261" r:id="rId30"/>
    <p:sldId id="263" r:id="rId3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EDEF"/>
    <a:srgbClr val="F8F8F8"/>
    <a:srgbClr val="E8DCC8"/>
    <a:srgbClr val="F2EDE4"/>
    <a:srgbClr val="D4621A"/>
    <a:srgbClr val="DD6418"/>
    <a:srgbClr val="AE8F4B"/>
    <a:srgbClr val="C49A4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840" autoAdjust="0"/>
    <p:restoredTop sz="84164" autoAdjust="0"/>
  </p:normalViewPr>
  <p:slideViewPr>
    <p:cSldViewPr snapToGrid="0" snapToObjects="1">
      <p:cViewPr varScale="1">
        <p:scale>
          <a:sx n="133" d="100"/>
          <a:sy n="133" d="100"/>
        </p:scale>
        <p:origin x="55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31629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7F82FA-3F59-6948-13BB-950985CE6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4AAC41-377E-AF99-F75D-C3C0FE87B6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950D28C0-13F5-B84F-BA94-10C3FD736E0D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AU" dirty="0"/>
                  <a:t>ADCs turn a continuous signal into discrete samples that a computer can process.</a:t>
                </a:r>
              </a:p>
              <a:p>
                <a:endParaRPr lang="en-AU" dirty="0"/>
              </a:p>
              <a:p>
                <a:r>
                  <a:rPr lang="en-AU" b="1" dirty="0"/>
                  <a:t>SR</a:t>
                </a:r>
                <a:r>
                  <a:rPr lang="en-AU" dirty="0"/>
                  <a:t>: how often it measures the signal. Sample too slowly and you lose detail - the Nyquist rate sets the minimum needed to capture a bandlimited signal faithfully. </a:t>
                </a:r>
              </a:p>
              <a:p>
                <a:r>
                  <a:rPr lang="en-AU" dirty="0"/>
                  <a:t>DR: the amplitude window the ADC can actually represent, say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sepChr m:val=","/>
                        <m:ctrlPr>
                          <a:rPr lang="en-AU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en-AU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−</m:t>
                        </m:r>
                      </m:e>
                      <m:e>
                        <m:r>
                          <a:rPr lang="en-AU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𝜆𝜆</m:t>
                        </m:r>
                      </m:e>
                    </m:d>
                  </m:oMath>
                </a14:m>
                <a:r>
                  <a:rPr lang="en-AU" dirty="0"/>
                  <a:t>.</a:t>
                </a:r>
              </a:p>
              <a:p>
                <a:endParaRPr lang="en-AU" dirty="0"/>
              </a:p>
              <a:p>
                <a:r>
                  <a:rPr lang="en-AU" dirty="0"/>
                  <a:t>When a signal exceeds that range, a conventional ADC clips it — flattening everything past </a:t>
                </a:r>
                <a14:m>
                  <m:oMath xmlns:m="http://schemas.openxmlformats.org/officeDocument/2006/math">
                    <m:r>
                      <a:rPr lang="en-AU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𝜆</m:t>
                    </m:r>
                  </m:oMath>
                </a14:m>
                <a:r>
                  <a:rPr lang="en-AU" dirty="0"/>
                  <a:t>and permanently losing that information.</a:t>
                </a:r>
              </a:p>
              <a:p>
                <a:endParaRPr lang="en-AU" dirty="0"/>
              </a:p>
              <a:p>
                <a:r>
                  <a:rPr lang="en-AU" dirty="0"/>
                  <a:t>The usual fixes all cost something. You can crank up the sampling rate, but that's expensive in power and hardware. So the question is: can we recover the full signal </a:t>
                </a:r>
                <a:r>
                  <a:rPr lang="en-AU" i="1" dirty="0"/>
                  <a:t>without</a:t>
                </a:r>
                <a:r>
                  <a:rPr lang="en-AU" dirty="0"/>
                  <a:t> paying that price?</a:t>
                </a:r>
              </a:p>
              <a:p>
                <a:endParaRPr lang="en-AU" dirty="0"/>
              </a:p>
              <a:p>
                <a:r>
                  <a:rPr lang="en-AU" dirty="0"/>
                  <a:t>In this presentation we explore the </a:t>
                </a:r>
                <a:r>
                  <a:rPr lang="en-AU" b="1" dirty="0"/>
                  <a:t>B²R²</a:t>
                </a:r>
                <a:r>
                  <a:rPr lang="en-AU" dirty="0"/>
                  <a:t> algorithm by Azar, </a:t>
                </a:r>
                <a:r>
                  <a:rPr lang="en-AU" dirty="0" err="1"/>
                  <a:t>Mulleti</a:t>
                </a:r>
                <a:r>
                  <a:rPr lang="en-AU" dirty="0"/>
                  <a:t>, and Eldar — an unlimited sampling framework that recovers the signal perfectly while sampling just barely above the Nyquist rate.</a:t>
                </a:r>
              </a:p>
            </p:txBody>
          </p:sp>
        </mc:Choice>
        <mc:Fallback xmlns="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950D28C0-13F5-B84F-BA94-10C3FD736E0D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AU" dirty="0"/>
                  <a:t>Analog-to-digital converters (ADCs) are the bridge between the </a:t>
                </a:r>
                <a:r>
                  <a:rPr lang="en-AU" dirty="0" err="1"/>
                  <a:t>analog</a:t>
                </a:r>
                <a:r>
                  <a:rPr lang="en-AU" dirty="0"/>
                  <a:t> world and the digital one — they turn continuous signals into samples a computer can process.</a:t>
                </a:r>
              </a:p>
              <a:p>
                <a:endParaRPr lang="en-AU" dirty="0"/>
              </a:p>
              <a:p>
                <a:r>
                  <a:rPr lang="en-AU" dirty="0"/>
                  <a:t>An ADC has two "knobs." The first is the </a:t>
                </a:r>
                <a:r>
                  <a:rPr lang="en-AU" b="1" dirty="0"/>
                  <a:t>sampling rate</a:t>
                </a:r>
                <a:r>
                  <a:rPr lang="en-AU" dirty="0"/>
                  <a:t>: how often it measures the signal. Sample too slowly and you lose detail — the Nyquist rate sets the minimum needed to capture a bandlimited signal faithfully. The second is the </a:t>
                </a:r>
                <a:r>
                  <a:rPr lang="en-AU" b="1" dirty="0"/>
                  <a:t>dynamic range</a:t>
                </a:r>
                <a:r>
                  <a:rPr lang="en-AU" dirty="0"/>
                  <a:t>: the amplitude window the ADC can actually represent, say </a:t>
                </a:r>
                <a:r>
                  <a:rPr lang="en-AU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[−ⓜ,𝜆𝜆]</a:t>
                </a:r>
                <a:r>
                  <a:rPr lang="en-AU" dirty="0"/>
                  <a:t>.</a:t>
                </a:r>
              </a:p>
              <a:p>
                <a:endParaRPr lang="en-AU" dirty="0"/>
              </a:p>
              <a:p>
                <a:r>
                  <a:rPr lang="en-AU" dirty="0"/>
                  <a:t>When a signal exceeds that range, a conventional ADC clips it — flattening everything past </a:t>
                </a:r>
                <a:r>
                  <a:rPr lang="en-AU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𝜆</a:t>
                </a:r>
                <a:r>
                  <a:rPr lang="en-AU" dirty="0"/>
                  <a:t>and permanently losing that information.</a:t>
                </a:r>
              </a:p>
              <a:p>
                <a:endParaRPr lang="en-AU" dirty="0"/>
              </a:p>
              <a:p>
                <a:r>
                  <a:rPr lang="en-AU" dirty="0"/>
                  <a:t>The usual fixes all cost something. You can crank up the sampling rate, but that's expensive in power and hardware. So the question is: can we recover the full signal </a:t>
                </a:r>
                <a:r>
                  <a:rPr lang="en-AU" i="1" dirty="0"/>
                  <a:t>without</a:t>
                </a:r>
                <a:r>
                  <a:rPr lang="en-AU" dirty="0"/>
                  <a:t> paying that price?</a:t>
                </a:r>
              </a:p>
              <a:p>
                <a:endParaRPr lang="en-AU" dirty="0"/>
              </a:p>
              <a:p>
                <a:r>
                  <a:rPr lang="en-AU" dirty="0"/>
                  <a:t>In this presentation we explore the </a:t>
                </a:r>
                <a:r>
                  <a:rPr lang="en-AU" b="1" dirty="0"/>
                  <a:t>B²R²</a:t>
                </a:r>
                <a:r>
                  <a:rPr lang="en-AU" dirty="0"/>
                  <a:t> algorithm by Azar, </a:t>
                </a:r>
                <a:r>
                  <a:rPr lang="en-AU" dirty="0" err="1"/>
                  <a:t>Mulleti</a:t>
                </a:r>
                <a:r>
                  <a:rPr lang="en-AU" dirty="0"/>
                  <a:t>, and Eldar — an unlimited sampling framework that recovers the signal perfectly while sampling just barely above the Nyquist rate.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2B5981-928D-6444-943C-F40EFFD19E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4555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9498F9-EBE7-073A-5E9F-930B3B52D2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993D17-0A30-284A-F986-761947A193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8A3DD8C4-41EF-F512-1F8E-C5995F5EC013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AU" dirty="0"/>
                  <a:t>So how do we deal with a signal that exceeds the dynamic range? </a:t>
                </a:r>
              </a:p>
              <a:p>
                <a:r>
                  <a:rPr lang="en-AU" dirty="0"/>
                  <a:t>Instead of just clipping it, we apply a </a:t>
                </a:r>
                <a:r>
                  <a:rPr lang="en-AU" b="1" dirty="0"/>
                  <a:t>nonlinear operator</a:t>
                </a:r>
                <a:r>
                  <a:rPr lang="en-AU" dirty="0"/>
                  <a:t> before sampling.</a:t>
                </a:r>
              </a:p>
              <a:p>
                <a:endParaRPr lang="en-AU" dirty="0"/>
              </a:p>
              <a:p>
                <a:r>
                  <a:rPr lang="en-AU" b="1" dirty="0"/>
                  <a:t>Clipping</a:t>
                </a:r>
                <a:r>
                  <a:rPr lang="en-AU" dirty="0"/>
                  <a:t> is the conventional one — anything above </a:t>
                </a:r>
                <a14:m>
                  <m:oMath xmlns:m="http://schemas.openxmlformats.org/officeDocument/2006/math">
                    <m:r>
                      <a:rPr lang="en-AU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𝜆</m:t>
                    </m:r>
                  </m:oMath>
                </a14:m>
                <a:r>
                  <a:rPr lang="en-AU" dirty="0"/>
                  <a:t>gets pinned to </a:t>
                </a:r>
                <a14:m>
                  <m:oMath xmlns:m="http://schemas.openxmlformats.org/officeDocument/2006/math">
                    <m:r>
                      <a:rPr lang="en-AU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𝜆</m:t>
                    </m:r>
                  </m:oMath>
                </a14:m>
                <a:r>
                  <a:rPr lang="en-AU" dirty="0"/>
                  <a:t>, anything below </a:t>
                </a:r>
                <a14:m>
                  <m:oMath xmlns:m="http://schemas.openxmlformats.org/officeDocument/2006/math">
                    <m:r>
                      <a:rPr lang="en-AU" sz="120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−</m:t>
                    </m:r>
                    <m:r>
                      <a:rPr lang="en-AU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𝜆</m:t>
                    </m:r>
                  </m:oMath>
                </a14:m>
                <a:r>
                  <a:rPr lang="en-AU" dirty="0"/>
                  <a:t>to </a:t>
                </a:r>
                <a14:m>
                  <m:oMath xmlns:m="http://schemas.openxmlformats.org/officeDocument/2006/math">
                    <m:r>
                      <a:rPr lang="en-AU" sz="120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−</m:t>
                    </m:r>
                    <m:r>
                      <a:rPr lang="en-AU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𝜆</m:t>
                    </m:r>
                  </m:oMath>
                </a14:m>
                <a:r>
                  <a:rPr lang="en-AU" dirty="0"/>
                  <a:t>. Simple, but it throws information away.</a:t>
                </a:r>
              </a:p>
              <a:p>
                <a:endParaRPr lang="en-AU" dirty="0"/>
              </a:p>
              <a:p>
                <a:r>
                  <a:rPr lang="en-AU" dirty="0"/>
                  <a:t>**Modulo** is the one we'll focus on. Instead of flattening the signal, it *folds* it back into the range — every time the signal crosses </a:t>
                </a:r>
                <a14:m>
                  <m:oMath xmlns:m="http://schemas.openxmlformats.org/officeDocument/2006/math">
                    <m:r>
                      <a:rPr lang="en-AU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𝜆</m:t>
                    </m:r>
                  </m:oMath>
                </a14:m>
                <a:r>
                  <a:rPr lang="en-AU" dirty="0"/>
                  <a:t>, it wraps around to </a:t>
                </a:r>
                <a14:m>
                  <m:oMath xmlns:m="http://schemas.openxmlformats.org/officeDocument/2006/math">
                    <m:r>
                      <a:rPr lang="en-AU" sz="120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−</m:t>
                    </m:r>
                    <m:r>
                      <a:rPr lang="en-AU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𝜆</m:t>
                    </m:r>
                  </m:oMath>
                </a14:m>
                <a:r>
                  <a:rPr lang="en-AU" dirty="0"/>
                  <a:t>and keeps going. Notice nothing gets clipped flat; the orange signal still uses the full range. The information isn't destroyed, just disguised — and that's what lets us recover it later.</a:t>
                </a:r>
              </a:p>
              <a:p>
                <a:endParaRPr lang="en-AU" dirty="0"/>
              </a:p>
              <a:p>
                <a:r>
                  <a:rPr lang="en-AU" b="1" dirty="0"/>
                  <a:t>μ-law modulo</a:t>
                </a:r>
                <a:r>
                  <a:rPr lang="en-AU" dirty="0"/>
                  <a:t> adds a </a:t>
                </a:r>
                <a:r>
                  <a:rPr lang="en-AU" dirty="0" err="1"/>
                  <a:t>companding</a:t>
                </a:r>
                <a:r>
                  <a:rPr lang="en-AU" dirty="0"/>
                  <a:t> step after folding, boosting small amplitudes so they sit better above the noise floor. It's a generalization — and that's the key insight of the paper: clipping, modulo, and </a:t>
                </a:r>
                <a:r>
                  <a:rPr lang="en-AU" dirty="0" err="1"/>
                  <a:t>companding</a:t>
                </a:r>
                <a:r>
                  <a:rPr lang="en-AU" dirty="0"/>
                  <a:t> are all special cases of one general operator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120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en-AU" sz="120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𝒢</m:t>
                        </m:r>
                      </m:e>
                      <m:sub>
                        <m:r>
                          <a:rPr lang="en-AU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𝜆</m:t>
                        </m:r>
                      </m:sub>
                    </m:sSub>
                  </m:oMath>
                </a14:m>
                <a:r>
                  <a:rPr lang="en-AU" dirty="0"/>
                  <a:t>.</a:t>
                </a:r>
              </a:p>
              <a:p>
                <a:r>
                  <a:rPr lang="en-AU" dirty="0"/>
                  <a:t>For the rest of this talk, we'll stick with plain modulo.</a:t>
                </a:r>
              </a:p>
            </p:txBody>
          </p:sp>
        </mc:Choice>
        <mc:Fallback xmlns="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8A3DD8C4-41EF-F512-1F8E-C5995F5EC013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AU" dirty="0"/>
                  <a:t>So how do we deal with a signal that exceeds the dynamic range? Instead of just clipping it, we apply a </a:t>
                </a:r>
                <a:r>
                  <a:rPr lang="en-AU" b="1" dirty="0"/>
                  <a:t>nonlinear operator</a:t>
                </a:r>
                <a:r>
                  <a:rPr lang="en-AU" dirty="0"/>
                  <a:t> before sampling. Here are three.</a:t>
                </a:r>
              </a:p>
              <a:p>
                <a:endParaRPr lang="en-AU" dirty="0"/>
              </a:p>
              <a:p>
                <a:r>
                  <a:rPr lang="en-AU" b="1" dirty="0"/>
                  <a:t>Clipping</a:t>
                </a:r>
                <a:r>
                  <a:rPr lang="en-AU" dirty="0"/>
                  <a:t> is the conventional one — anything above </a:t>
                </a:r>
                <a:r>
                  <a:rPr lang="en-AU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𝜆</a:t>
                </a:r>
                <a:r>
                  <a:rPr lang="en-AU" dirty="0"/>
                  <a:t>gets pinned to </a:t>
                </a:r>
                <a:r>
                  <a:rPr lang="en-AU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𝜆</a:t>
                </a:r>
                <a:r>
                  <a:rPr lang="en-AU" dirty="0"/>
                  <a:t>, anything below </a:t>
                </a:r>
                <a:r>
                  <a:rPr lang="en-AU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−𝜆</a:t>
                </a:r>
                <a:r>
                  <a:rPr lang="en-AU" dirty="0"/>
                  <a:t>to </a:t>
                </a:r>
                <a:r>
                  <a:rPr lang="en-AU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−𝜆</a:t>
                </a:r>
                <a:r>
                  <a:rPr lang="en-AU" dirty="0"/>
                  <a:t>. Simple, but it throws information away.</a:t>
                </a:r>
              </a:p>
              <a:p>
                <a:endParaRPr lang="en-AU" dirty="0"/>
              </a:p>
              <a:p>
                <a:r>
                  <a:rPr lang="en-AU" dirty="0"/>
                  <a:t>**Modulo** is the one we'll focus on. Instead of flattening the signal, it *folds* it back into the range — every time the signal crosses </a:t>
                </a:r>
                <a:r>
                  <a:rPr lang="en-AU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𝜆</a:t>
                </a:r>
                <a:r>
                  <a:rPr lang="en-AU" dirty="0"/>
                  <a:t>, it wraps around to </a:t>
                </a:r>
                <a:r>
                  <a:rPr lang="en-AU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−𝜆</a:t>
                </a:r>
                <a:r>
                  <a:rPr lang="en-AU" dirty="0"/>
                  <a:t>and keeps going. Notice nothing gets clipped flat; the orange signal still uses the full range. The information isn't destroyed, just disguised — and that's what lets us recover it later.</a:t>
                </a:r>
              </a:p>
              <a:p>
                <a:r>
                  <a:rPr lang="en-AU" b="1" dirty="0"/>
                  <a:t>μ-law modulo</a:t>
                </a:r>
                <a:r>
                  <a:rPr lang="en-AU" dirty="0"/>
                  <a:t> adds a </a:t>
                </a:r>
                <a:r>
                  <a:rPr lang="en-AU" dirty="0" err="1"/>
                  <a:t>companding</a:t>
                </a:r>
                <a:r>
                  <a:rPr lang="en-AU" dirty="0"/>
                  <a:t> step before folding, boosting small amplitudes so they sit better above the noise floor. It's a generalization — and that's the key insight of the paper: clipping, modulo, and </a:t>
                </a:r>
                <a:r>
                  <a:rPr lang="en-AU" dirty="0" err="1"/>
                  <a:t>companding</a:t>
                </a:r>
                <a:r>
                  <a:rPr lang="en-AU" dirty="0"/>
                  <a:t> are all special cases of one general operator </a:t>
                </a:r>
                <a:r>
                  <a:rPr lang="en-AU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𝒢_𝜆</a:t>
                </a:r>
                <a:r>
                  <a:rPr lang="en-AU" dirty="0"/>
                  <a:t>.</a:t>
                </a:r>
              </a:p>
              <a:p>
                <a:r>
                  <a:rPr lang="en-AU" dirty="0"/>
                  <a:t>For the rest of this talk, we'll stick with plain modulo.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3F5EFD-E712-7A24-A333-0DC332A1C7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86679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370F84-D8FA-69A1-1E17-93889DDB5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5A95B9-D9DD-816D-0D5B-1FA404C1D0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B4F2AB-57D3-01B5-9326-D16058FF10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Here's the central idea. </a:t>
            </a:r>
          </a:p>
          <a:p>
            <a:r>
              <a:rPr lang="en-US" dirty="0"/>
              <a:t>We fold samples and collect those values</a:t>
            </a:r>
          </a:p>
          <a:p>
            <a:endParaRPr lang="en-US" dirty="0"/>
          </a:p>
          <a:p>
            <a:r>
              <a:rPr lang="en-US" dirty="0"/>
              <a:t>In the case of modulo, it has a structure 2_lambda times an integer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So we don’t have to directly recover the true signal. If getting the residual is easier, then the true signal itself is solved.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881224-FB9B-6817-6D64-E01962157E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0882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AU" dirty="0"/>
                  <a:t>So how do we pin down </a:t>
                </a:r>
                <a14:m>
                  <m:oMath xmlns:m="http://schemas.openxmlformats.org/officeDocument/2006/math">
                    <m:r>
                      <a:rPr lang="en-AU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𝑧</m:t>
                    </m:r>
                  </m:oMath>
                </a14:m>
                <a:r>
                  <a:rPr lang="en-AU" dirty="0"/>
                  <a:t>? It comes from two properties that let us separate it from the true signal — one in time, one in frequency. This is the first</a:t>
                </a:r>
              </a:p>
              <a:p>
                <a:r>
                  <a:rPr lang="en-AU" dirty="0"/>
                  <a:t>.</a:t>
                </a:r>
              </a:p>
              <a:p>
                <a:r>
                  <a:rPr lang="en-AU" dirty="0"/>
                  <a:t>A bandlimited, finite-energy signal </a:t>
                </a:r>
                <a:r>
                  <a:rPr lang="en-AU" b="1" dirty="0"/>
                  <a:t>decays</a:t>
                </a:r>
                <a:r>
                  <a:rPr lang="en-AU" dirty="0"/>
                  <a:t> — by the Riemann–Lebesgue lemma, it has to go to zero as you move out in time. So for any threshold </a:t>
                </a:r>
                <a14:m>
                  <m:oMath xmlns:m="http://schemas.openxmlformats.org/officeDocument/2006/math">
                    <m:r>
                      <a:rPr lang="en-AU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𝜆</m:t>
                    </m:r>
                  </m:oMath>
                </a14:m>
                <a:r>
                  <a:rPr lang="en-AU" dirty="0"/>
                  <a:t>, there's some index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en-AU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𝑁</m:t>
                        </m:r>
                      </m:e>
                      <m:sub>
                        <m:r>
                          <a:rPr lang="en-AU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𝜆</m:t>
                        </m:r>
                      </m:sub>
                    </m:sSub>
                  </m:oMath>
                </a14:m>
                <a:r>
                  <a:rPr lang="en-AU" dirty="0"/>
                  <a:t>beyond which the signal never exceeds the dynamic range again.</a:t>
                </a:r>
              </a:p>
              <a:p>
                <a:endParaRPr lang="en-AU" dirty="0"/>
              </a:p>
              <a:p>
                <a:r>
                  <a:rPr lang="en-AU" dirty="0"/>
                  <a:t>And if the signal stays inside </a:t>
                </a:r>
                <a14:m>
                  <m:oMath xmlns:m="http://schemas.openxmlformats.org/officeDocument/2006/math">
                    <m:r>
                      <a:rPr lang="en-AU" sz="120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±</m:t>
                    </m:r>
                    <m:r>
                      <a:rPr lang="en-AU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𝜆</m:t>
                    </m:r>
                  </m:oMath>
                </a14:m>
                <a:r>
                  <a:rPr lang="en-AU" dirty="0"/>
                  <a:t>, there's nothing to fold. So beyond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en-AU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𝑁</m:t>
                        </m:r>
                      </m:e>
                      <m:sub>
                        <m:r>
                          <a:rPr lang="en-AU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𝜆</m:t>
                        </m:r>
                      </m:sub>
                    </m:sSub>
                  </m:oMath>
                </a14:m>
                <a:r>
                  <a:rPr lang="en-AU" dirty="0"/>
                  <a:t>, the folded samples equal the true samples, and the residual is </a:t>
                </a:r>
                <a:r>
                  <a:rPr lang="en-AU" b="1" dirty="0"/>
                  <a:t>exactly zero</a:t>
                </a:r>
                <a:r>
                  <a:rPr lang="en-AU" dirty="0"/>
                  <a:t> — that's the shaded region versus the tails in the plot.</a:t>
                </a:r>
              </a:p>
              <a:p>
                <a:endParaRPr lang="en-AU" dirty="0"/>
              </a:p>
              <a:p>
                <a:r>
                  <a:rPr lang="en-AU" dirty="0"/>
                  <a:t>The payoff: </a:t>
                </a:r>
                <a14:m>
                  <m:oMath xmlns:m="http://schemas.openxmlformats.org/officeDocument/2006/math">
                    <m:r>
                      <a:rPr lang="en-AU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𝑧</m:t>
                    </m:r>
                  </m:oMath>
                </a14:m>
                <a:r>
                  <a:rPr lang="en-AU" dirty="0"/>
                  <a:t>isn't some arbitrary infinite sequence. It's </a:t>
                </a:r>
                <a:r>
                  <a:rPr lang="en-AU" b="1" dirty="0"/>
                  <a:t>time-limited</a:t>
                </a:r>
                <a:r>
                  <a:rPr lang="en-AU" dirty="0"/>
                  <a:t> — at most </a:t>
                </a:r>
                <a14:m>
                  <m:oMath xmlns:m="http://schemas.openxmlformats.org/officeDocument/2006/math">
                    <m:r>
                      <a:rPr lang="en-AU" sz="120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2</m:t>
                    </m:r>
                    <m:sSub>
                      <m:sSubPr>
                        <m:ctrlPr>
                          <a:rPr lang="en-AU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en-AU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𝑁</m:t>
                        </m:r>
                      </m:e>
                      <m:sub>
                        <m:r>
                          <a:rPr lang="en-AU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𝜆</m:t>
                        </m:r>
                      </m:sub>
                    </m:sSub>
                    <m:r>
                      <a:rPr lang="en-AU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+1</m:t>
                    </m:r>
                  </m:oMath>
                </a14:m>
                <a:r>
                  <a:rPr lang="en-AU" dirty="0"/>
                  <a:t>nonzero entries, all bunched in the middle where the signal was large. We've turned an infinite unknown into a finite one.</a:t>
                </a:r>
              </a:p>
              <a:p>
                <a:endParaRPr lang="en-AU" dirty="0"/>
              </a:p>
              <a:p>
                <a:r>
                  <a:rPr lang="en-AU" dirty="0"/>
                  <a:t>Next we'll use the frequency domain to actually solve for those entries.</a:t>
                </a:r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AU" dirty="0"/>
                  <a:t>So how do we pin down </a:t>
                </a:r>
                <a:r>
                  <a:rPr lang="en-AU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𝑧</a:t>
                </a:r>
                <a:r>
                  <a:rPr lang="en-AU" dirty="0"/>
                  <a:t>? It comes from two properties that let us separate it from the true signal — one in time, one in frequency. This is the first</a:t>
                </a:r>
              </a:p>
              <a:p>
                <a:r>
                  <a:rPr lang="en-AU" dirty="0"/>
                  <a:t>.</a:t>
                </a:r>
              </a:p>
              <a:p>
                <a:r>
                  <a:rPr lang="en-AU" dirty="0"/>
                  <a:t>A bandlimited, finite-energy signal </a:t>
                </a:r>
                <a:r>
                  <a:rPr lang="en-AU" b="1" dirty="0"/>
                  <a:t>decays</a:t>
                </a:r>
                <a:r>
                  <a:rPr lang="en-AU" dirty="0"/>
                  <a:t> — by the Riemann–Lebesgue lemma, it has to go to zero as you move out in time. So for any threshold </a:t>
                </a:r>
                <a:r>
                  <a:rPr lang="en-AU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𝜆</a:t>
                </a:r>
                <a:r>
                  <a:rPr lang="en-AU" dirty="0"/>
                  <a:t>, there's some index </a:t>
                </a:r>
                <a:r>
                  <a:rPr lang="en-AU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𝑁_𝜆</a:t>
                </a:r>
                <a:r>
                  <a:rPr lang="en-AU" dirty="0"/>
                  <a:t>beyond which the signal never exceeds the dynamic range again.</a:t>
                </a:r>
              </a:p>
              <a:p>
                <a:endParaRPr lang="en-AU" dirty="0"/>
              </a:p>
              <a:p>
                <a:r>
                  <a:rPr lang="en-AU" dirty="0"/>
                  <a:t>And if the signal stays inside </a:t>
                </a:r>
                <a:r>
                  <a:rPr lang="en-AU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±𝜆</a:t>
                </a:r>
                <a:r>
                  <a:rPr lang="en-AU" dirty="0"/>
                  <a:t>, there's nothing to fold. So beyond </a:t>
                </a:r>
                <a:r>
                  <a:rPr lang="en-AU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𝑁_𝜆</a:t>
                </a:r>
                <a:r>
                  <a:rPr lang="en-AU" dirty="0"/>
                  <a:t>, the folded samples equal the true samples, and the residual is </a:t>
                </a:r>
                <a:r>
                  <a:rPr lang="en-AU" b="1" dirty="0"/>
                  <a:t>exactly zero</a:t>
                </a:r>
                <a:r>
                  <a:rPr lang="en-AU" dirty="0"/>
                  <a:t> — that's the shaded region versus the tails in the plot.</a:t>
                </a:r>
              </a:p>
              <a:p>
                <a:endParaRPr lang="en-AU" dirty="0"/>
              </a:p>
              <a:p>
                <a:r>
                  <a:rPr lang="en-AU" dirty="0"/>
                  <a:t>The payoff: </a:t>
                </a:r>
                <a:r>
                  <a:rPr lang="en-AU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𝑧</a:t>
                </a:r>
                <a:r>
                  <a:rPr lang="en-AU" dirty="0"/>
                  <a:t>isn't some arbitrary infinite sequence. It's </a:t>
                </a:r>
                <a:r>
                  <a:rPr lang="en-AU" b="1" dirty="0"/>
                  <a:t>time-limited</a:t>
                </a:r>
                <a:r>
                  <a:rPr lang="en-AU" dirty="0"/>
                  <a:t> — at most </a:t>
                </a:r>
                <a:r>
                  <a:rPr lang="en-AU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2𝑁_𝜆+1</a:t>
                </a:r>
                <a:r>
                  <a:rPr lang="en-AU" dirty="0"/>
                  <a:t>nonzero entries, all bunched in the middle where the signal was large. We've turned an infinite unknown into a finite one.</a:t>
                </a:r>
              </a:p>
              <a:p>
                <a:endParaRPr lang="en-AU" dirty="0"/>
              </a:p>
              <a:p>
                <a:r>
                  <a:rPr lang="en-AU" dirty="0"/>
                  <a:t>Next we'll use the frequency domain to actually solve for those entries.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4F440E-33CE-54BC-30C3-F6C0BFFE9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817960-33C3-C3CB-AE0E-E9A474D8E0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3BBB105C-AB72-5331-3271-16B6129CE1D1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>
                  <a:buNone/>
                </a:pPr>
                <a:r>
                  <a:rPr lang="en-AU" b="1" dirty="0"/>
                  <a:t>Fourier-Domain Separation</a:t>
                </a:r>
                <a:endParaRPr lang="en-AU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AU" dirty="0"/>
                  <a:t> Next property → Fourier domain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AU" dirty="0"/>
                  <a:t> DTFT of original (top): energy within </a:t>
                </a:r>
                <a:r>
                  <a:rPr lang="en-AU" dirty="0" err="1"/>
                  <a:t>omega_m</a:t>
                </a:r>
                <a:r>
                  <a:rPr lang="en-AU" dirty="0"/>
                  <a:t> band, bandlimited, zero above </a:t>
                </a:r>
                <a:r>
                  <a:rPr lang="en-AU" dirty="0" err="1"/>
                  <a:t>omega_m</a:t>
                </a:r>
                <a:endParaRPr lang="en-AU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AU" dirty="0"/>
                  <a:t> Sampling above Nyquist → band-gap region rho (between </a:t>
                </a:r>
                <a:r>
                  <a:rPr lang="en-AU" dirty="0" err="1"/>
                  <a:t>omega_m</a:t>
                </a:r>
                <a:r>
                  <a:rPr lang="en-AU" dirty="0"/>
                  <a:t> and </a:t>
                </a:r>
                <a:r>
                  <a:rPr lang="en-AU" dirty="0" err="1"/>
                  <a:t>omega_s</a:t>
                </a:r>
                <a:r>
                  <a:rPr lang="en-AU" dirty="0"/>
                  <a:t>/2), spectrum empty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AU" dirty="0"/>
                  <a:t> Folding = nonlinearity → generates new spectral content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AU" dirty="0"/>
                  <a:t> DTFT of folded (bottom): no longer bandlimited → energy spills into band-gap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AU" dirty="0"/>
                  <a:t> Key: original contributes nothing in band-gap → energy there is purely residual (folded minus original)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AU" dirty="0"/>
                  <a:t> Linearity → folded spectrum equals residual spectrum in the vacant band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AU" dirty="0"/>
                  <a:t> Band-gap = clean window onto residual → reconstruction exploits this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3BBB105C-AB72-5331-3271-16B6129CE1D1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AU" dirty="0"/>
                  <a:t>That's the second piece, and it's where "beyond bandwidth" earns its name.</a:t>
                </a:r>
              </a:p>
              <a:p>
                <a:r>
                  <a:rPr lang="en-AU" dirty="0"/>
                  <a:t>When we sample </a:t>
                </a:r>
                <a:r>
                  <a:rPr lang="en-AU" b="1" dirty="0"/>
                  <a:t>above</a:t>
                </a:r>
                <a:r>
                  <a:rPr lang="en-AU" dirty="0"/>
                  <a:t> the Nyquist rate, the true signal only occupies the band up to </a:t>
                </a:r>
                <a:r>
                  <a:rPr lang="en-AU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𝜔_𝑚</a:t>
                </a:r>
                <a:r>
                  <a:rPr lang="en-AU" dirty="0"/>
                  <a:t>— it's zero in the gap between </a:t>
                </a:r>
                <a:r>
                  <a:rPr lang="en-AU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𝜔_𝑚</a:t>
                </a:r>
                <a:r>
                  <a:rPr lang="en-AU" dirty="0"/>
                  <a:t>and half the sampling rate. You can see it in the top plot: the original signal's spectrum sits entirely inside </a:t>
                </a:r>
                <a:r>
                  <a:rPr lang="en-AU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±𝜔_𝑚</a:t>
                </a:r>
                <a:r>
                  <a:rPr lang="en-AU" dirty="0"/>
                  <a:t>, and the shaded band-gap region is empty.</a:t>
                </a:r>
              </a:p>
              <a:p>
                <a:r>
                  <a:rPr lang="en-AU" dirty="0"/>
                  <a:t>But the residual </a:t>
                </a:r>
                <a:r>
                  <a:rPr lang="en-AU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𝑧</a:t>
                </a:r>
                <a:r>
                  <a:rPr lang="en-AU" dirty="0"/>
                  <a:t>is **not** bandlimited — folding adds sharp jumps, which spill energy across all frequencies. So look at the bottom plot: once we fold, that vacant band fills up. And by linearity, whatever spectral energy lives in the gap can *only* have come from the residual — the true signal contributes nothing there.</a:t>
                </a:r>
              </a:p>
              <a:p>
                <a:r>
                  <a:rPr lang="en-AU" dirty="0"/>
                  <a:t>That gives us a clean equation: in the band-gap, the folded spectrum </a:t>
                </a:r>
                <a:r>
                  <a:rPr lang="en-AU" b="1" dirty="0"/>
                  <a:t>equals</a:t>
                </a:r>
                <a:r>
                  <a:rPr lang="en-AU" dirty="0"/>
                  <a:t> the residual's spectrum, </a:t>
                </a:r>
                <a:r>
                  <a:rPr lang="en-AU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𝐹_𝜆=𝑍</a:t>
                </a:r>
                <a:r>
                  <a:rPr lang="en-AU" dirty="0"/>
                  <a:t>.</a:t>
                </a:r>
              </a:p>
              <a:p>
                <a:r>
                  <a:rPr lang="en-AU" dirty="0"/>
                  <a:t>Now put the two properties together. In time, </a:t>
                </a:r>
                <a:r>
                  <a:rPr lang="en-AU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𝑧</a:t>
                </a:r>
                <a:r>
                  <a:rPr lang="en-AU" dirty="0"/>
                  <a:t>has only </a:t>
                </a:r>
                <a:r>
                  <a:rPr lang="en-AU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2𝑁_𝜆+1</a:t>
                </a:r>
                <a:r>
                  <a:rPr lang="en-AU" dirty="0"/>
                  <a:t>unknowns. In frequency, we have clean measurements of </a:t>
                </a:r>
                <a:r>
                  <a:rPr lang="en-AU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𝑧</a:t>
                </a:r>
                <a:r>
                  <a:rPr lang="en-AU" dirty="0"/>
                  <a:t>in the gap. Finitely many unknowns, plenty of equations — so we can solve for </a:t>
                </a:r>
                <a:r>
                  <a:rPr lang="en-AU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𝑧</a:t>
                </a:r>
                <a:r>
                  <a:rPr lang="en-AU" dirty="0"/>
                  <a:t>.</a:t>
                </a:r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40D1B2-E1E3-7B60-7A8F-759B35CB1F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4811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7698A0-6585-3EC4-4C6F-407965067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94FB91-585C-83C2-C304-C3236B3ED5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5623ECAA-B0A2-108B-C361-9192CA2C56C8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>
                  <a:buFont typeface="Arial" panose="020B0604020202020204" pitchFamily="34" charset="0"/>
                  <a:buChar char="•"/>
                </a:pPr>
                <a:r>
                  <a:rPr lang="en-AU" dirty="0"/>
                  <a:t> On the band-gap, the folded spectrum is just the DTFT of the residual z (finite sum over the residual samples) 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AU" dirty="0"/>
                  <a:t> Sample M frequencies in the band-gap (M = 2 </a:t>
                </a:r>
                <a:r>
                  <a:rPr lang="en-AU" dirty="0" err="1"/>
                  <a:t>N_lambda</a:t>
                </a:r>
                <a:r>
                  <a:rPr lang="en-AU" dirty="0"/>
                  <a:t> + 1) → gives a linear system 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AU" dirty="0"/>
                  <a:t> The system: V z = b 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en-AU" dirty="0"/>
                  <a:t> V = matrix of complex exponentials (the sampled frequencies)</a:t>
                </a:r>
              </a:p>
              <a:p>
                <a:pPr>
                  <a:buFont typeface="Arial" panose="020B0604020202020204" pitchFamily="34" charset="0"/>
                  <a:buNone/>
                </a:pPr>
                <a:r>
                  <a:rPr lang="en-AU" dirty="0"/>
                  <a:t>- z = residual samples we want to recover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AU" dirty="0"/>
                  <a:t> b = folded spectrum values measured in the band-gap</a:t>
                </a:r>
              </a:p>
              <a:p>
                <a:pPr>
                  <a:buNone/>
                </a:pPr>
                <a:r>
                  <a:rPr lang="en-AU" dirty="0"/>
                  <a:t>Solving for the residuals = inverting V → z equals V-inverse times b So in principle, recovering the residual is a direct matrix inversion</a:t>
                </a:r>
                <a:endParaRPr lang="en-US" dirty="0"/>
              </a:p>
            </p:txBody>
          </p:sp>
        </mc:Choice>
        <mc:Fallback xmlns="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5623ECAA-B0A2-108B-C361-9192CA2C56C8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AU" dirty="0"/>
                  <a:t>So we have finitely many unknowns and clean measurements in the gap. The most direct way to solve is just linear algebra.</a:t>
                </a:r>
              </a:p>
              <a:p>
                <a:r>
                  <a:rPr lang="en-AU" dirty="0"/>
                  <a:t>In the band-gap, the folded spectrum is a finite sum over the </a:t>
                </a:r>
                <a:r>
                  <a:rPr lang="en-AU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2𝑁_𝜆+1</a:t>
                </a:r>
                <a:r>
                  <a:rPr lang="en-AU" dirty="0"/>
                  <a:t>residual samples — each weighted by a complex exponential. That's a system of linear equations.</a:t>
                </a:r>
              </a:p>
              <a:p>
                <a:r>
                  <a:rPr lang="en-AU" dirty="0"/>
                  <a:t>Pick </a:t>
                </a:r>
                <a:r>
                  <a:rPr lang="en-AU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𝑀=2𝑁_𝜆+1</a:t>
                </a:r>
                <a:r>
                  <a:rPr lang="en-AU" dirty="0"/>
                  <a:t>frequencies in the gap — exactly as many equations as unknowns. Stack them up and you get </a:t>
                </a:r>
                <a:r>
                  <a:rPr lang="en-AU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𝑉</a:t>
                </a:r>
                <a:r>
                  <a:rPr lang="en-AU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𝐳</a:t>
                </a:r>
                <a:r>
                  <a:rPr lang="en-AU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=</a:t>
                </a:r>
                <a:r>
                  <a:rPr lang="en-AU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𝐛</a:t>
                </a:r>
                <a:r>
                  <a:rPr lang="en-AU" dirty="0"/>
                  <a:t>: the matrix </a:t>
                </a:r>
                <a:r>
                  <a:rPr lang="en-AU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𝑉</a:t>
                </a:r>
                <a:r>
                  <a:rPr lang="en-AU" dirty="0"/>
                  <a:t>holds the exponentials, </a:t>
                </a:r>
                <a:r>
                  <a:rPr lang="en-AU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𝐳</a:t>
                </a:r>
                <a:r>
                  <a:rPr lang="en-AU" dirty="0"/>
                  <a:t>is the residual we want, and </a:t>
                </a:r>
                <a:r>
                  <a:rPr lang="en-AU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𝐛</a:t>
                </a:r>
                <a:r>
                  <a:rPr lang="en-AU" dirty="0"/>
                  <a:t>is the folded spectrum we measured.</a:t>
                </a:r>
              </a:p>
              <a:p>
                <a:r>
                  <a:rPr lang="en-AU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𝑉</a:t>
                </a:r>
                <a:r>
                  <a:rPr lang="en-AU" dirty="0"/>
                  <a:t>is a </a:t>
                </a:r>
                <a:r>
                  <a:rPr lang="en-AU" b="1" dirty="0" err="1"/>
                  <a:t>Vandermonde</a:t>
                </a:r>
                <a:r>
                  <a:rPr lang="en-AU" dirty="0"/>
                  <a:t> matrix — and as long as the frequencies are distinct, it's invertible. So in principle, recovery is just </a:t>
                </a:r>
                <a:r>
                  <a:rPr lang="en-AU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𝐳</a:t>
                </a:r>
                <a:r>
                  <a:rPr lang="en-AU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=𝑉^(−1)</a:t>
                </a:r>
                <a:r>
                  <a:rPr lang="en-AU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 𝐛</a:t>
                </a:r>
                <a:r>
                  <a:rPr lang="en-AU" dirty="0"/>
                  <a:t>.</a:t>
                </a:r>
              </a:p>
              <a:p>
                <a:r>
                  <a:rPr lang="en-AU" dirty="0"/>
                  <a:t>Clean, but there's a catch — and it's why this isn't the algorithm we actually use.</a:t>
                </a:r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1857F3-5A16-59C6-9963-6B3510E765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6514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30CEEB-183D-1EB2-BD8E-7AAA02A35B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ABC344-63E2-9684-ED51-2E2D5671AF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0D5F56C7-458F-FBDD-288A-4EE9CAADA53A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AU" dirty="0"/>
                  <a:t>Here's the catch. "Invertible in principle" and "stable in practice" are not the same thing.</a:t>
                </a:r>
              </a:p>
              <a:p>
                <a:endParaRPr lang="en-US" dirty="0"/>
              </a:p>
              <a:p>
                <a:r>
                  <a:rPr lang="en-US" dirty="0"/>
                  <a:t>As N_</a:t>
                </a:r>
              </a:p>
            </p:txBody>
          </p:sp>
        </mc:Choice>
        <mc:Fallback xmlns="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0D5F56C7-458F-FBDD-288A-4EE9CAADA53A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AU" dirty="0"/>
                  <a:t>Here's the catch. "Invertible in principle" and "stable in practice" are not the same thing.</a:t>
                </a:r>
              </a:p>
              <a:p>
                <a:r>
                  <a:rPr lang="en-AU" dirty="0"/>
                  <a:t>Watch what happens as we shrink </a:t>
                </a:r>
                <a:r>
                  <a:rPr lang="en-AU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𝜆</a:t>
                </a:r>
                <a:r>
                  <a:rPr lang="en-AU" dirty="0"/>
                  <a:t>. A smaller dynamic range means more folds, which means a larger </a:t>
                </a:r>
                <a:r>
                  <a:rPr lang="en-AU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𝑁_𝜆</a:t>
                </a:r>
                <a:r>
                  <a:rPr lang="en-AU" dirty="0"/>
                  <a:t>— and a bigger </a:t>
                </a:r>
                <a:r>
                  <a:rPr lang="en-AU" dirty="0" err="1"/>
                  <a:t>Vandermonde</a:t>
                </a:r>
                <a:r>
                  <a:rPr lang="en-AU" dirty="0"/>
                  <a:t> matrix. On the left, </a:t>
                </a:r>
                <a:r>
                  <a:rPr lang="en-AU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𝜆=0.25</a:t>
                </a:r>
                <a:r>
                  <a:rPr lang="en-AU" dirty="0"/>
                  <a:t>, </a:t>
                </a:r>
                <a:r>
                  <a:rPr lang="en-AU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𝑁_𝜆=4</a:t>
                </a:r>
                <a:r>
                  <a:rPr lang="en-AU" dirty="0"/>
                  <a:t>: recovery is perfect, error is essentially machine precision.</a:t>
                </a:r>
              </a:p>
              <a:p>
                <a:r>
                  <a:rPr lang="en-AU" dirty="0"/>
                  <a:t>But look at the condition number </a:t>
                </a:r>
                <a:r>
                  <a:rPr lang="en-AU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𝜅</a:t>
                </a:r>
                <a:r>
                  <a:rPr lang="en-AU" dirty="0"/>
                  <a:t>across the panels — it explodes. Eleven, then seventeen hundred, then three hundred *thousand*. By the right-hand panel the inversion has completely diverged — the recovery shoots off the chart while the true signal sits quietly in the middle.</a:t>
                </a:r>
              </a:p>
              <a:p>
                <a:r>
                  <a:rPr lang="en-AU" dirty="0"/>
                  <a:t>That's the signature of an </a:t>
                </a:r>
                <a:r>
                  <a:rPr lang="en-AU" b="1" dirty="0"/>
                  <a:t>ill-conditioned</a:t>
                </a:r>
                <a:r>
                  <a:rPr lang="en-AU" dirty="0"/>
                  <a:t> matrix: tiny numerical errors get amplified enormously, and in any real setting with noise, it's hopeless.</a:t>
                </a:r>
              </a:p>
              <a:p>
                <a:r>
                  <a:rPr lang="en-AU" dirty="0"/>
                  <a:t>So </a:t>
                </a:r>
                <a:r>
                  <a:rPr lang="en-AU" dirty="0" err="1"/>
                  <a:t>Vandermonde</a:t>
                </a:r>
                <a:r>
                  <a:rPr lang="en-AU" dirty="0"/>
                  <a:t> inversion is fine as a proof of concept, but it doesn't scale. We need a solver that finds the same residual </a:t>
                </a:r>
                <a:r>
                  <a:rPr lang="en-AU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𝑧</a:t>
                </a:r>
                <a:r>
                  <a:rPr lang="en-AU" b="1" dirty="0"/>
                  <a:t>without</a:t>
                </a:r>
                <a:r>
                  <a:rPr lang="en-AU" dirty="0"/>
                  <a:t> ever forming or inverting </a:t>
                </a:r>
                <a:r>
                  <a:rPr lang="en-AU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𝑉</a:t>
                </a:r>
                <a:r>
                  <a:rPr lang="en-AU" dirty="0"/>
                  <a:t>— and that's B²R².</a:t>
                </a:r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6B591D-8729-04F3-0355-4665D2F4A0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4129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2C56EB-53C5-4EC7-C09B-DD776120C5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2BDF3C-12F1-10C8-6171-22E8E4667D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8F15B3F7-2589-ED8C-89CC-5178CB847538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AU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- Frame it as an optimization problem.</a:t>
                </a:r>
              </a:p>
              <a:p>
                <a:endParaRPr lang="en-AU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en-AU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- folded spectrum = residual spectrum</a:t>
                </a:r>
              </a:p>
              <a:p>
                <a:endParaRPr lang="en-AU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endParaRPr lang="en-AU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en-AU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- That means, instead of perfectly looking for the equality, we would want to minimize the difference of the DTFT of the two within rho.</a:t>
                </a:r>
              </a:p>
              <a:p>
                <a:r>
                  <a:rPr lang="en-AU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- The gradient is then the </a:t>
                </a:r>
                <a:r>
                  <a:rPr lang="en-AU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highpass</a:t>
                </a:r>
                <a:r>
                  <a:rPr lang="en-AU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filter between these two.</a:t>
                </a:r>
              </a:p>
              <a:p>
                <a:r>
                  <a:rPr lang="en-AU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- The </a:t>
                </a:r>
                <a:r>
                  <a:rPr lang="en-AU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highpass</a:t>
                </a:r>
                <a:r>
                  <a:rPr lang="en-AU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filter operator takes the DTFT of the difference, keeps only the frequencies in rho, then inverses that back to the time domain sample values.</a:t>
                </a:r>
              </a:p>
              <a:p>
                <a:r>
                  <a:rPr lang="en-AU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- We can then use this gradient in an iterative way.</a:t>
                </a:r>
              </a:p>
            </p:txBody>
          </p:sp>
        </mc:Choice>
        <mc:Fallback xmlns="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8F15B3F7-2589-ED8C-89CC-5178CB847538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AU" dirty="0"/>
                  <a:t>So how do we find the same </a:t>
                </a:r>
                <a:r>
                  <a:rPr lang="en-AU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𝑧</a:t>
                </a:r>
                <a:r>
                  <a:rPr lang="en-AU" dirty="0"/>
                  <a:t>without ever touching </a:t>
                </a:r>
                <a:r>
                  <a:rPr lang="en-AU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𝑉</a:t>
                </a:r>
                <a:r>
                  <a:rPr lang="en-AU" dirty="0"/>
                  <a:t>? We recast it as an </a:t>
                </a:r>
                <a:r>
                  <a:rPr lang="en-AU" b="1" dirty="0"/>
                  <a:t>optimization problem</a:t>
                </a:r>
                <a:r>
                  <a:rPr lang="en-AU" dirty="0"/>
                  <a:t>.</a:t>
                </a:r>
              </a:p>
              <a:p>
                <a:r>
                  <a:rPr lang="en-AU" dirty="0"/>
                  <a:t>We still use the same fact — in the band-gap, the folded spectrum equals the residual's spectrum. But instead of demanding exact equality at a few points, we ask: which </a:t>
                </a:r>
                <a:r>
                  <a:rPr lang="en-AU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𝑧</a:t>
                </a:r>
                <a:r>
                  <a:rPr lang="en-AU" dirty="0"/>
                  <a:t>makes the folded and residual spectra agree as closely as possible **across the whole gap**? That's the objective — minimize the squared mismatch </a:t>
                </a:r>
                <a:r>
                  <a:rPr lang="en-AU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∥ℱ_𝜌 </a:t>
                </a:r>
                <a:r>
                  <a:rPr lang="en-AU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𝐟_</a:t>
                </a:r>
                <a:r>
                  <a:rPr lang="en-AU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𝜆−ℱ_𝜌</a:t>
                </a:r>
                <a:r>
                  <a:rPr lang="en-AU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 𝐳</a:t>
                </a:r>
                <a:r>
                  <a:rPr lang="en-AU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∥</a:t>
                </a:r>
                <a:r>
                  <a:rPr lang="en-AU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^</a:t>
                </a:r>
                <a:r>
                  <a:rPr lang="en-AU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2</a:t>
                </a:r>
                <a:r>
                  <a:rPr lang="en-AU" dirty="0"/>
                  <a:t>, subject to </a:t>
                </a:r>
                <a:r>
                  <a:rPr lang="en-AU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𝑧</a:t>
                </a:r>
                <a:r>
                  <a:rPr lang="en-AU" dirty="0"/>
                  <a:t>living on its known finite support.</a:t>
                </a:r>
              </a:p>
              <a:p>
                <a:r>
                  <a:rPr lang="en-AU" dirty="0"/>
                  <a:t>We solve it with </a:t>
                </a:r>
                <a:r>
                  <a:rPr lang="en-AU" b="1" dirty="0"/>
                  <a:t>projected gradient descent</a:t>
                </a:r>
                <a:r>
                  <a:rPr lang="en-AU" dirty="0"/>
                  <a:t> — two steps, repeated. Take a gradient step downhill, then project back onto the support: zero out everything outside the </a:t>
                </a:r>
                <a:r>
                  <a:rPr lang="en-AU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2𝑁_𝜆+1</a:t>
                </a:r>
                <a:r>
                  <a:rPr lang="en-AU" dirty="0"/>
                  <a:t>window where we know </a:t>
                </a:r>
                <a:r>
                  <a:rPr lang="en-AU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𝑧</a:t>
                </a:r>
                <a:r>
                  <a:rPr lang="en-AU" dirty="0"/>
                  <a:t>has to live.</a:t>
                </a:r>
              </a:p>
              <a:p>
                <a:r>
                  <a:rPr lang="en-AU" dirty="0"/>
                  <a:t>And here's the elegant part. The gradient operator </a:t>
                </a:r>
                <a:r>
                  <a:rPr lang="en-AU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ℱ_𝜌^∗ ℱ_𝜌</a:t>
                </a:r>
                <a:r>
                  <a:rPr lang="en-AU" dirty="0"/>
                  <a:t>is just a **</a:t>
                </a:r>
                <a:r>
                  <a:rPr lang="en-AU" dirty="0" err="1"/>
                  <a:t>highpass</a:t>
                </a:r>
                <a:r>
                  <a:rPr lang="en-AU" dirty="0"/>
                  <a:t> filter** — it keeps only the band-gap frequencies. So every iteration is a filter plus a masking step. No matrix to build, no matrix to invert, nothing to blow up. The whole thing is convolutions — stable, cheap, and it scales to large </a:t>
                </a:r>
                <a:r>
                  <a:rPr lang="en-AU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𝑁_𝜆</a:t>
                </a:r>
                <a:r>
                  <a:rPr lang="en-AU" dirty="0"/>
                  <a:t>where </a:t>
                </a:r>
                <a:r>
                  <a:rPr lang="en-AU" dirty="0" err="1"/>
                  <a:t>Vandermonde</a:t>
                </a:r>
                <a:r>
                  <a:rPr lang="en-AU" dirty="0"/>
                  <a:t> fell apart.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9713BE-70FC-5996-577E-33D064EE37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4254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992CC4-46EA-FA68-1344-B7DED2E5C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F90904-5B16-48AF-8843-CCEBC35488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2D4BB9-B26F-0DEE-857A-853DA815EA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D4DFF9-3667-0F98-1CC0-F8D7DB51BA8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2460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86959B-9E6E-0EC4-018D-3DD359EBC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3F9FE9-C126-3A39-5FE6-7B4520B28C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E59C1B-3924-2BBA-3E4F-54919CBC09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F5C251-B82B-C212-465B-1B08F3571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7023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600FF5-FD02-24B5-AA78-C81CCD7D5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59C90A-CE9A-BD75-F1F4-6B2422EED9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2A4782-A354-CA33-8F92-9BE9F02DAC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AC35AF-4C00-3EFE-164C-A9DC777C1D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57228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BA5ACD-0BC2-8F18-3FE7-A628D645F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A51A06-CBE8-35B3-7DBE-31CB646E90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7D0707-2846-A6D1-81DA-6C5FFB3F23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5F6E0F-E332-46D5-C4DD-84D4DD6B70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3116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D38DD6-A282-E206-41CC-1C93F0082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040207-7F4D-95E8-D1E9-2B018DBDF5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18AA25-FEE8-27F3-81D9-12063FC06A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252029-9CBB-BAFA-5A51-2BAA1E5BF4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11266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F3E65A-0A54-80D9-15E1-41E3993CD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A0C169-436F-2F13-DAEB-67D1B53043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8C16B7-35BD-5900-D8FF-7BA30C0E55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F4FBCD-C056-6EA4-5F6C-E88E6B6E91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66680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75B664-7FF1-F9C7-BD78-846BF3198F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DD2F9D-E432-0A66-6131-2A62DB8802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955457C8-AB68-B7D3-8B49-F747DA470413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AU" dirty="0"/>
                  <a:t>So we run the inner loop — a thousand iterations of filter-and-project. And here's what comes out.</a:t>
                </a:r>
              </a:p>
              <a:p>
                <a:r>
                  <a:rPr lang="en-AU" dirty="0"/>
                  <a:t>Look closely. At the </a:t>
                </a:r>
                <a:r>
                  <a:rPr lang="en-AU" b="1" dirty="0"/>
                  <a:t>edges</a:t>
                </a:r>
                <a:r>
                  <a:rPr lang="en-AU" dirty="0"/>
                  <a:t> of the support, around </a:t>
                </a:r>
                <a14:m>
                  <m:oMath xmlns:m="http://schemas.openxmlformats.org/officeDocument/2006/math">
                    <m:r>
                      <a:rPr lang="en-AU" sz="120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±</m:t>
                    </m:r>
                    <m:r>
                      <a:rPr lang="en-AU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40</m:t>
                    </m:r>
                  </m:oMath>
                </a14:m>
                <a:r>
                  <a:rPr lang="en-AU" dirty="0"/>
                  <a:t>, the recovery tracks the true signal beautifully. But toward the </a:t>
                </a:r>
                <a:r>
                  <a:rPr lang="en-AU" b="1" dirty="0"/>
                  <a:t>middle</a:t>
                </a:r>
                <a:r>
                  <a:rPr lang="en-AU" dirty="0"/>
                  <a:t>, where the signal swings hardest and the folds pile up, it falls short — the orange curve flattens out and never reaches those big peaks.</a:t>
                </a:r>
              </a:p>
              <a:p>
                <a:r>
                  <a:rPr lang="en-AU" dirty="0"/>
                  <a:t>This is the catch with the inner loop on its own: it's accurate at the edges but unreliable in the interior. That's not a bug — it's actually a clue. The residual is easiest to nail down exactly where the signal is just barely crossing </a:t>
                </a:r>
                <a14:m>
                  <m:oMath xmlns:m="http://schemas.openxmlformats.org/officeDocument/2006/math">
                    <m:r>
                      <a:rPr lang="en-AU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𝜆</m:t>
                    </m:r>
                  </m:oMath>
                </a14:m>
                <a:r>
                  <a:rPr lang="en-AU" dirty="0"/>
                  <a:t>, which is at the edges of the active region.</a:t>
                </a:r>
              </a:p>
              <a:p>
                <a:r>
                  <a:rPr lang="en-AU" dirty="0"/>
                  <a:t>So the strategy — "trust only the edges" — is exactly what the full algorithm exploits. Lock in the residual at the two outermost samples where we know it's right, peel them off, and shrink the problem. Then repeat on a smaller window.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955457C8-AB68-B7D3-8B49-F747DA470413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AU" dirty="0"/>
                  <a:t>So we run the inner loop — a thousand iterations of filter-and-project. And here's what comes out.</a:t>
                </a:r>
              </a:p>
              <a:p>
                <a:r>
                  <a:rPr lang="en-AU" dirty="0"/>
                  <a:t>Look closely. At the </a:t>
                </a:r>
                <a:r>
                  <a:rPr lang="en-AU" b="1" dirty="0"/>
                  <a:t>edges</a:t>
                </a:r>
                <a:r>
                  <a:rPr lang="en-AU" dirty="0"/>
                  <a:t> of the support, around </a:t>
                </a:r>
                <a:r>
                  <a:rPr lang="en-AU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±40</a:t>
                </a:r>
                <a:r>
                  <a:rPr lang="en-AU" dirty="0"/>
                  <a:t>, the recovery tracks the true signal beautifully. But toward the </a:t>
                </a:r>
                <a:r>
                  <a:rPr lang="en-AU" b="1" dirty="0"/>
                  <a:t>middle</a:t>
                </a:r>
                <a:r>
                  <a:rPr lang="en-AU" dirty="0"/>
                  <a:t>, where the signal swings hardest and the folds pile up, it falls short — the orange curve flattens out and never reaches those big peaks.</a:t>
                </a:r>
              </a:p>
              <a:p>
                <a:r>
                  <a:rPr lang="en-AU" dirty="0"/>
                  <a:t>This is the catch with the inner loop on its own: it's accurate at the edges but unreliable in the interior. That's not a bug — it's actually a clue. The residual is easiest to nail down exactly where the signal is just barely crossing </a:t>
                </a:r>
                <a:r>
                  <a:rPr lang="en-AU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𝜆</a:t>
                </a:r>
                <a:r>
                  <a:rPr lang="en-AU" dirty="0"/>
                  <a:t>, which is at the edges of the active region.</a:t>
                </a:r>
              </a:p>
              <a:p>
                <a:r>
                  <a:rPr lang="en-AU" dirty="0"/>
                  <a:t>So the strategy — "trust only the edges" — is exactly what the full algorithm exploits. Lock in the residual at the two outermost samples where we know it's right, peel them off, and shrink the problem. Then repeat on a smaller window.</a:t>
                </a:r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9C20EB-C55D-731E-2124-3412AB4969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50141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6681EF-053D-5A78-80DF-EC5CBF05E0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71BE23-763F-79D0-FEC4-5A91C6B735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582131B5-1875-8C74-EC43-B10F63291B4B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71450" indent="-171450">
                  <a:buFontTx/>
                  <a:buChar char="-"/>
                </a:pPr>
                <a:r>
                  <a:rPr lang="en-US" dirty="0"/>
                  <a:t>The full loop</a:t>
                </a:r>
              </a:p>
              <a:p>
                <a:pPr marL="171450" indent="-171450">
                  <a:buFontTx/>
                  <a:buChar char="-"/>
                </a:pPr>
                <a:r>
                  <a:rPr lang="en-US" dirty="0"/>
                  <a:t>Exploit:</a:t>
                </a:r>
              </a:p>
              <a:p>
                <a:pPr marL="628650" lvl="1" indent="-171450">
                  <a:buFontTx/>
                  <a:buChar char="-"/>
                </a:pPr>
                <a:r>
                  <a:rPr lang="en-US" dirty="0"/>
                  <a:t>1. That the residual is structured (at least for the modulo case)</a:t>
                </a:r>
              </a:p>
              <a:p>
                <a:pPr marL="628650" lvl="1" indent="-171450">
                  <a:buFontTx/>
                  <a:buChar char="-"/>
                </a:pPr>
                <a:r>
                  <a:rPr lang="en-US" dirty="0"/>
                  <a:t>2. The inner PGD loop solves for the edges first</a:t>
                </a:r>
              </a:p>
              <a:p>
                <a:pPr marL="171450" lvl="0" indent="-171450">
                  <a:buFontTx/>
                  <a:buChar char="-"/>
                </a:pPr>
                <a:r>
                  <a:rPr lang="en-US" dirty="0"/>
                  <a:t>The </a:t>
                </a:r>
                <a:endParaRPr lang="en-AU" dirty="0"/>
              </a:p>
            </p:txBody>
          </p:sp>
        </mc:Choice>
        <mc:Fallback xmlns="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582131B5-1875-8C74-EC43-B10F63291B4B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AU" dirty="0"/>
                  <a:t>Here's the full algorithm — the inner loop wrapped in an outer one that does exactly that: lock the edges, shrink, repeat.</a:t>
                </a:r>
              </a:p>
              <a:p>
                <a:r>
                  <a:rPr lang="en-AU" dirty="0"/>
                  <a:t>We start with the folded samples as our first guess and run the PGD inner loop. That gives us a residual estimate that — as we saw — we only trust at the two outermost samples.</a:t>
                </a:r>
              </a:p>
              <a:p>
                <a:r>
                  <a:rPr lang="en-AU" dirty="0"/>
                  <a:t>Then three quick moves. </a:t>
                </a:r>
                <a:r>
                  <a:rPr lang="en-AU" b="1" dirty="0"/>
                  <a:t>Round</a:t>
                </a:r>
                <a:r>
                  <a:rPr lang="en-AU" dirty="0"/>
                  <a:t>: for modulo, </a:t>
                </a:r>
                <a:r>
                  <a:rPr lang="en-AU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𝑧</a:t>
                </a:r>
                <a:r>
                  <a:rPr lang="en-AU" dirty="0"/>
                  <a:t>has to be an integer multiple of </a:t>
                </a:r>
                <a:r>
                  <a:rPr lang="en-AU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2𝜆</a:t>
                </a:r>
                <a:r>
                  <a:rPr lang="en-AU" dirty="0"/>
                  <a:t>, so we snap the estimate to the nearest valid level — this cleans up small errors completely. </a:t>
                </a:r>
                <a:r>
                  <a:rPr lang="en-AU" b="1" dirty="0"/>
                  <a:t>Update</a:t>
                </a:r>
                <a:r>
                  <a:rPr lang="en-AU" dirty="0"/>
                  <a:t>: subtract the now-known edge residuals off our running estimate. </a:t>
                </a:r>
                <a:r>
                  <a:rPr lang="en-AU" b="1" dirty="0"/>
                  <a:t>Shrink</a:t>
                </a:r>
                <a:r>
                  <a:rPr lang="en-AU" dirty="0"/>
                  <a:t>: those edges are solved, so we narrow the support by one on each side and decrement </a:t>
                </a:r>
                <a:r>
                  <a:rPr lang="en-AU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𝑁_𝜆</a:t>
                </a:r>
                <a:r>
                  <a:rPr lang="en-AU" dirty="0"/>
                  <a:t>.</a:t>
                </a:r>
              </a:p>
              <a:p>
                <a:r>
                  <a:rPr lang="en-AU" dirty="0"/>
                  <a:t>Look at the diagram — the support sweeps inward, one notch each pass. Solve the edges, peel them off, narrow the window, solve the new edges. We keep going until </a:t>
                </a:r>
                <a:r>
                  <a:rPr lang="en-AU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𝑁_𝜆</a:t>
                </a:r>
                <a:r>
                  <a:rPr lang="en-AU" dirty="0"/>
                  <a:t>hits zero and there's nothing left to unfold.</a:t>
                </a:r>
              </a:p>
              <a:p>
                <a:r>
                  <a:rPr lang="en-AU" dirty="0"/>
                  <a:t>What's left is </a:t>
                </a:r>
                <a:r>
                  <a:rPr lang="en-AU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𝐟 ̂</a:t>
                </a:r>
                <a:r>
                  <a:rPr lang="en-AU" dirty="0"/>
                  <a:t>— the fully recovered true signal. And because we never built a matrix, the whole thing stays stable no matter how large </a:t>
                </a:r>
                <a:r>
                  <a:rPr lang="en-AU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𝑁_𝜆</a:t>
                </a:r>
                <a:r>
                  <a:rPr lang="en-AU" dirty="0"/>
                  <a:t>started.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1966E5-33D4-7035-C0D3-ACD34ADE9A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73149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8C90BC-FAF8-E960-B801-1E1164726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6ED331-1325-C95F-530D-48637FD952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24B640-FD5E-AC75-367F-163E8E9171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CBA1FC-E6EE-7615-647F-80D2EC7B5A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98975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AFB19E-7101-DF3C-4E71-A7D3A735B4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800669-A881-D343-6793-1E96B1EA2D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39C76C-9DEC-38A0-2450-B49BD9C8F4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FBC992-A263-1090-D7FD-C32DDDE050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5411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750152-CF75-8666-B0C8-446EC70CC0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35FD00-28FF-A427-4516-E6C9838CE4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EE0D40-7B39-4F6A-D1EE-AAC1B798B9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6CCD05-AD66-21BC-AFA3-BFD59D6C84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75060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83D53-3E7E-5F04-BD0A-1A62646E8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8C2E6C-3765-917C-7CA9-91F01E8233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E3661B-BF73-AF4B-8C30-38D29ACAE2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5BCF40-025C-D184-A153-B9FC28000A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21019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5DC36C-FFD2-1CD4-0060-EAE347233A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B27531-FEBF-0877-EFD9-41788E7FC2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A7CC4B-67CE-EB5A-76B0-E9A11B2E1E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9063D9-D1D5-5C77-794F-809947DD3B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20483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022038-265A-D559-8BFA-8FDEFE33C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EC65B9-89AE-B81A-F95D-25C0F255A6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7764C4-F4A2-CBB8-CC01-839B51728D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699281-D9AD-0F60-EB7A-FC509ED2F8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68689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95F5DD-EBE5-E6FD-B0B7-2AE12D811E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5172AE-D287-FC53-7EA8-D1C8237F46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C88C6D-31BC-D784-9D60-57DCC744D8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3D9B7B-639D-5DEC-E520-8093D80A8B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83922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C6A18-825B-4D2F-221D-D8AE819EC1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F10945-2983-69EF-53E1-E7F8BF7EF1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4705E6-FB9A-F081-1053-7E20D1FCF8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A54108-E029-2BDA-1B5F-328DA01D15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33648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9F7729-8038-0A9E-D48B-3826FDCC0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C50EC8-A738-DDDC-8D80-61BA23BDD1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368DEF-3F9E-069C-E8F0-58D684CFB8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054BB6-1CDF-470C-FD8B-12A9A52E6D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85918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366E50-AE46-31B3-13D5-19AD52FFB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A063BB-3055-1693-E181-828A91F0AF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429B0C-0D90-BA3B-ED28-DD153A9681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681070-8C02-FB1B-1CB7-3E00706CFD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653653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A5A2A5-55F8-EC0F-60DE-D17ABEB7E0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93346F-BF4A-C826-6D34-BE4C245A17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48F3B7-F888-18F2-DCB4-10D33400FA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The full loop</a:t>
            </a:r>
          </a:p>
          <a:p>
            <a:pPr marL="171450" indent="-171450">
              <a:buFontTx/>
              <a:buChar char="-"/>
            </a:pPr>
            <a:r>
              <a:rPr lang="en-US" dirty="0"/>
              <a:t>Exploit: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1. That the residual is structured (at least for the modulo case)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2. The inner PGD loop solves for the edges first</a:t>
            </a:r>
          </a:p>
          <a:p>
            <a:pPr marL="171450" lvl="0" indent="-171450">
              <a:buFontTx/>
              <a:buChar char="-"/>
            </a:pPr>
            <a:r>
              <a:rPr lang="en-US" dirty="0"/>
              <a:t>The 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EFA688-44B9-9ADD-67B3-C39773E2CD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68072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VY_AMBER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502920" cy="502920"/>
          </a:xfrm>
          <a:prstGeom prst="rect">
            <a:avLst/>
          </a:prstGeom>
          <a:solidFill>
            <a:srgbClr val="D4621A"/>
          </a:solidFill>
          <a:ln/>
        </p:spPr>
        <p:txBody>
          <a:bodyPr/>
          <a:lstStyle/>
          <a:p>
            <a:endParaRPr lang="en-AU" noProof="0" dirty="0"/>
          </a:p>
        </p:txBody>
      </p:sp>
      <p:sp>
        <p:nvSpPr>
          <p:cNvPr id="3" name="Shape 1"/>
          <p:cNvSpPr/>
          <p:nvPr/>
        </p:nvSpPr>
        <p:spPr>
          <a:xfrm>
            <a:off x="1234440" y="640080"/>
            <a:ext cx="502920" cy="502920"/>
          </a:xfrm>
          <a:prstGeom prst="rect">
            <a:avLst/>
          </a:prstGeom>
          <a:solidFill>
            <a:srgbClr val="C49A45"/>
          </a:solidFill>
          <a:ln/>
        </p:spPr>
        <p:txBody>
          <a:bodyPr/>
          <a:lstStyle/>
          <a:p>
            <a:endParaRPr lang="en-AU" noProof="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AU" sz="5400" b="1" kern="0" spc="100" noProof="0" dirty="0">
                <a:solidFill>
                  <a:srgbClr val="F2EDE4"/>
                </a:solidFill>
                <a:latin typeface="Aptos ExtraBold" panose="020B0004020202020204" pitchFamily="34" charset="0"/>
                <a:ea typeface="Segoe UI Black" panose="020B0A02040204020203" pitchFamily="34" charset="0"/>
                <a:cs typeface="Segoe UI Semibold" pitchFamily="34" charset="-120"/>
              </a:rPr>
              <a:t>UNLIMITED SAMPLING</a:t>
            </a:r>
            <a:endParaRPr lang="en-AU" sz="5400" noProof="0" dirty="0">
              <a:latin typeface="Aptos ExtraBold" panose="020B0004020202020204" pitchFamily="34" charset="0"/>
              <a:ea typeface="Segoe UI Black" panose="020B0A02040204020203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58368" y="36118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AU" sz="1600" noProof="0" dirty="0">
                <a:solidFill>
                  <a:srgbClr val="E8DCC8"/>
                </a:solidFill>
                <a:latin typeface="Segoe UI" panose="020B0502040204020203" pitchFamily="34" charset="0"/>
                <a:ea typeface="Segoe UI" pitchFamily="34" charset="-122"/>
                <a:cs typeface="Segoe UI" panose="020B0502040204020203" pitchFamily="34" charset="0"/>
              </a:rPr>
              <a:t>An exploration of the paper “Unlimited Sampling Beyond Modulo” by </a:t>
            </a:r>
            <a:r>
              <a:rPr lang="en-US" sz="1600" kern="0" spc="100" dirty="0">
                <a:solidFill>
                  <a:srgbClr val="E8DCC8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Azar, </a:t>
            </a:r>
            <a:r>
              <a:rPr lang="en-US" sz="1600" kern="0" spc="100" dirty="0" err="1">
                <a:solidFill>
                  <a:srgbClr val="E8DCC8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Mulleti</a:t>
            </a:r>
            <a:r>
              <a:rPr lang="en-US" sz="1600" kern="0" spc="100" dirty="0">
                <a:solidFill>
                  <a:srgbClr val="E8DCC8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 &amp; Eldar (2025)</a:t>
            </a:r>
            <a:endParaRPr lang="en-AU" sz="1600" noProof="0" dirty="0">
              <a:solidFill>
                <a:srgbClr val="E8DCC8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58368" y="4434840"/>
            <a:ext cx="2011680" cy="54864"/>
          </a:xfrm>
          <a:prstGeom prst="rect">
            <a:avLst/>
          </a:prstGeom>
          <a:solidFill>
            <a:srgbClr val="D4621A"/>
          </a:solidFill>
          <a:ln/>
        </p:spPr>
        <p:txBody>
          <a:bodyPr/>
          <a:lstStyle/>
          <a:p>
            <a:endParaRPr lang="en-AU" noProof="0" dirty="0"/>
          </a:p>
        </p:txBody>
      </p:sp>
      <p:sp>
        <p:nvSpPr>
          <p:cNvPr id="7" name="Text 5"/>
          <p:cNvSpPr/>
          <p:nvPr/>
        </p:nvSpPr>
        <p:spPr>
          <a:xfrm>
            <a:off x="658368" y="6035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AU" sz="1400" noProof="0" dirty="0">
                <a:solidFill>
                  <a:srgbClr val="E8DC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DOMINGO, EDWARD JOHN</a:t>
            </a:r>
            <a:endParaRPr lang="en-AU" sz="1400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8D4648-3EC5-0F07-DA71-FF0B44677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11BD297-5C35-D3F1-8CFD-652B806315DF}"/>
              </a:ext>
            </a:extLst>
          </p:cNvPr>
          <p:cNvSpPr/>
          <p:nvPr/>
        </p:nvSpPr>
        <p:spPr>
          <a:xfrm>
            <a:off x="640080" y="5486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AU" sz="3200" b="1" noProof="0" dirty="0">
                <a:solidFill>
                  <a:srgbClr val="F2EDE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Dynamic Range Problem</a:t>
            </a:r>
          </a:p>
          <a:p>
            <a:pPr marL="0" indent="0">
              <a:buNone/>
            </a:pPr>
            <a:r>
              <a:rPr lang="en-AU" sz="1600" noProof="0" dirty="0">
                <a:solidFill>
                  <a:srgbClr val="C49A45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Signals have finite energy</a:t>
            </a:r>
          </a:p>
        </p:txBody>
      </p:sp>
      <p:sp>
        <p:nvSpPr>
          <p:cNvPr id="16" name="Text 1">
            <a:extLst>
              <a:ext uri="{FF2B5EF4-FFF2-40B4-BE49-F238E27FC236}">
                <a16:creationId xmlns:a16="http://schemas.microsoft.com/office/drawing/2014/main" id="{1EAAE2E9-F1A1-D88F-E2E2-2E230B0BD324}"/>
              </a:ext>
            </a:extLst>
          </p:cNvPr>
          <p:cNvSpPr/>
          <p:nvPr/>
        </p:nvSpPr>
        <p:spPr>
          <a:xfrm>
            <a:off x="640080" y="1737360"/>
            <a:ext cx="1088136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1200"/>
              </a:spcAft>
              <a:buSzPct val="100000"/>
            </a:pPr>
            <a:r>
              <a:rPr lang="en-AU" sz="2400" noProof="0" dirty="0">
                <a:solidFill>
                  <a:srgbClr val="F2EDE4"/>
                </a:solidFill>
              </a:rPr>
              <a:t>Analog-to-Digital Converters (ADCs) have a finite Dynamic Range.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7BB3459-24C6-A778-B6FF-B51A870AE2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1369" y="2678562"/>
            <a:ext cx="8069262" cy="3630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66276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04E75B-807E-B3CA-0741-BAF1E1B5C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997FC82-BBB9-0109-5C25-5E1525B32ACD}"/>
              </a:ext>
            </a:extLst>
          </p:cNvPr>
          <p:cNvSpPr/>
          <p:nvPr/>
        </p:nvSpPr>
        <p:spPr>
          <a:xfrm>
            <a:off x="640080" y="5486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AU" sz="3200" b="1" noProof="0" dirty="0">
                <a:solidFill>
                  <a:srgbClr val="F2EDE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Operators</a:t>
            </a:r>
          </a:p>
          <a:p>
            <a:pPr marL="0" indent="0">
              <a:buNone/>
            </a:pPr>
            <a:r>
              <a:rPr lang="en-AU" sz="1600" noProof="0" dirty="0">
                <a:solidFill>
                  <a:srgbClr val="C49A45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Different ways of processing signals</a:t>
            </a: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07F68680-6149-D4A1-6C8E-158A1F808BED}"/>
              </a:ext>
            </a:extLst>
          </p:cNvPr>
          <p:cNvSpPr/>
          <p:nvPr/>
        </p:nvSpPr>
        <p:spPr>
          <a:xfrm>
            <a:off x="-890668" y="5373412"/>
            <a:ext cx="585216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1200"/>
              </a:spcAft>
              <a:buSzPct val="100000"/>
            </a:pPr>
            <a:endParaRPr lang="en-AU" i="1" dirty="0">
              <a:solidFill>
                <a:srgbClr val="F2EDE4"/>
              </a:solidFill>
              <a:latin typeface="Cambria Math" panose="02040503050406030204" pitchFamily="18" charset="0"/>
            </a:endParaRPr>
          </a:p>
          <a:p>
            <a:pPr>
              <a:spcAft>
                <a:spcPts val="1200"/>
              </a:spcAft>
              <a:buSzPct val="100000"/>
            </a:pPr>
            <a:endParaRPr lang="en-AU" i="1" dirty="0">
              <a:solidFill>
                <a:srgbClr val="F2EDE4"/>
              </a:solidFill>
              <a:latin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1">
                <a:extLst>
                  <a:ext uri="{FF2B5EF4-FFF2-40B4-BE49-F238E27FC236}">
                    <a16:creationId xmlns:a16="http://schemas.microsoft.com/office/drawing/2014/main" id="{35D5AD83-F785-0360-C666-34039F22E5B2}"/>
                  </a:ext>
                </a:extLst>
              </p:cNvPr>
              <p:cNvSpPr/>
              <p:nvPr/>
            </p:nvSpPr>
            <p:spPr>
              <a:xfrm>
                <a:off x="4545265" y="4893297"/>
                <a:ext cx="3411407" cy="872189"/>
              </a:xfrm>
              <a:prstGeom prst="rect">
                <a:avLst/>
              </a:prstGeom>
              <a:noFill/>
              <a:ln/>
            </p:spPr>
            <p:txBody>
              <a:bodyPr wrap="square" rtlCol="0" anchor="t"/>
              <a:lstStyle/>
              <a:p>
                <a:pPr algn="ctr">
                  <a:spcAft>
                    <a:spcPts val="1200"/>
                  </a:spcAft>
                  <a:buSzPct val="100000"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AU" i="1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i="1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ℳ</m:t>
                          </m:r>
                        </m:e>
                        <m:sub>
                          <m:r>
                            <a:rPr lang="en-AU" i="1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sub>
                      </m:sSub>
                      <m:d>
                        <m:dPr>
                          <m:ctrlPr>
                            <a:rPr lang="en-AU" i="1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i="1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AU" i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AU" i="1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i="1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AU" i="1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AU" i="1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  <m:func>
                        <m:funcPr>
                          <m:ctrlPr>
                            <a:rPr lang="en-AU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AU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mod</m:t>
                          </m:r>
                        </m:fName>
                        <m:e>
                          <m:r>
                            <a:rPr lang="en-AU" i="1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func>
                      <m:r>
                        <a:rPr lang="en-AU" i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AU" i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i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</m:oMath>
                  </m:oMathPara>
                </a14:m>
                <a:endParaRPr lang="en-AU" dirty="0">
                  <a:solidFill>
                    <a:srgbClr val="F2EDE4"/>
                  </a:solidFill>
                </a:endParaRPr>
              </a:p>
            </p:txBody>
          </p:sp>
        </mc:Choice>
        <mc:Fallback xmlns="">
          <p:sp>
            <p:nvSpPr>
              <p:cNvPr id="6" name="Text 1">
                <a:extLst>
                  <a:ext uri="{FF2B5EF4-FFF2-40B4-BE49-F238E27FC236}">
                    <a16:creationId xmlns:a16="http://schemas.microsoft.com/office/drawing/2014/main" id="{35D5AD83-F785-0360-C666-34039F22E5B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5265" y="4893297"/>
                <a:ext cx="3411407" cy="87218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459DBEF2-C5DA-CD53-568C-B12439E2EE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646622"/>
            <a:ext cx="12192000" cy="3002050"/>
          </a:xfrm>
          <a:prstGeom prst="rect">
            <a:avLst/>
          </a:prstGeom>
        </p:spPr>
      </p:pic>
      <p:pic>
        <p:nvPicPr>
          <p:cNvPr id="7" name="Image 1" descr="eqs/clip.png">
            <a:extLst>
              <a:ext uri="{FF2B5EF4-FFF2-40B4-BE49-F238E27FC236}">
                <a16:creationId xmlns:a16="http://schemas.microsoft.com/office/drawing/2014/main" id="{CD563B33-29CB-D29A-7C5B-BCF042B5D8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1365" y="4775283"/>
            <a:ext cx="2549347" cy="1196259"/>
          </a:xfrm>
          <a:prstGeom prst="rect">
            <a:avLst/>
          </a:prstGeom>
        </p:spPr>
      </p:pic>
      <p:pic>
        <p:nvPicPr>
          <p:cNvPr id="8" name="Image 3" descr="eqs/mulaw.png">
            <a:extLst>
              <a:ext uri="{FF2B5EF4-FFF2-40B4-BE49-F238E27FC236}">
                <a16:creationId xmlns:a16="http://schemas.microsoft.com/office/drawing/2014/main" id="{C641056F-8481-FB72-5103-80BFCAD115D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13529"/>
          <a:stretch>
            <a:fillRect/>
          </a:stretch>
        </p:blipFill>
        <p:spPr>
          <a:xfrm>
            <a:off x="8711184" y="4775283"/>
            <a:ext cx="3145536" cy="639997"/>
          </a:xfrm>
          <a:prstGeom prst="rect">
            <a:avLst/>
          </a:prstGeom>
        </p:spPr>
      </p:pic>
      <p:pic>
        <p:nvPicPr>
          <p:cNvPr id="10" name="Image 4" descr="eqs/mulawinv.png">
            <a:extLst>
              <a:ext uri="{FF2B5EF4-FFF2-40B4-BE49-F238E27FC236}">
                <a16:creationId xmlns:a16="http://schemas.microsoft.com/office/drawing/2014/main" id="{9C747A91-4712-F862-FF7F-B768F5BABB2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11184" y="5747176"/>
            <a:ext cx="3145536" cy="716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70421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CD6394-05B0-13A9-CB8C-56731B4D40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48B31E5-8826-5655-E7D3-B5A54C13C917}"/>
              </a:ext>
            </a:extLst>
          </p:cNvPr>
          <p:cNvSpPr/>
          <p:nvPr/>
        </p:nvSpPr>
        <p:spPr>
          <a:xfrm>
            <a:off x="640080" y="5486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AU" sz="3200" b="1" noProof="0" dirty="0">
                <a:solidFill>
                  <a:srgbClr val="F2EDE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Solving for z gets you f</a:t>
            </a:r>
          </a:p>
          <a:p>
            <a:pPr marL="0" indent="0">
              <a:buNone/>
            </a:pPr>
            <a:r>
              <a:rPr lang="en-AU" sz="1600" noProof="0" dirty="0">
                <a:solidFill>
                  <a:srgbClr val="C49A45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Whatever the non-l</a:t>
            </a:r>
            <a:r>
              <a:rPr lang="en-AU" sz="1600" dirty="0" err="1">
                <a:solidFill>
                  <a:srgbClr val="C49A45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inearity</a:t>
            </a:r>
            <a:r>
              <a:rPr lang="en-AU" sz="1600" dirty="0">
                <a:solidFill>
                  <a:srgbClr val="C49A45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, the unknown is always z</a:t>
            </a:r>
            <a:endParaRPr lang="en-AU" sz="1600" noProof="0" dirty="0">
              <a:solidFill>
                <a:srgbClr val="C49A45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 1">
                <a:extLst>
                  <a:ext uri="{FF2B5EF4-FFF2-40B4-BE49-F238E27FC236}">
                    <a16:creationId xmlns:a16="http://schemas.microsoft.com/office/drawing/2014/main" id="{17363849-559D-0598-C864-03A045D912DB}"/>
                  </a:ext>
                </a:extLst>
              </p:cNvPr>
              <p:cNvSpPr/>
              <p:nvPr/>
            </p:nvSpPr>
            <p:spPr>
              <a:xfrm>
                <a:off x="239643" y="2259003"/>
                <a:ext cx="5856357" cy="4114800"/>
              </a:xfrm>
              <a:prstGeom prst="rect">
                <a:avLst/>
              </a:prstGeom>
              <a:noFill/>
              <a:ln/>
            </p:spPr>
            <p:txBody>
              <a:bodyPr wrap="square" rtlCol="0" anchor="t"/>
              <a:lstStyle/>
              <a:p>
                <a:pPr>
                  <a:spcAft>
                    <a:spcPts val="1200"/>
                  </a:spcAft>
                  <a:buSzPct val="100000"/>
                </a:pPr>
                <a14:m>
                  <m:oMathPara xmlns:m="http://schemas.openxmlformats.org/officeDocument/2006/math">
                    <m:oMath>
                      <m:limLow>
                        <m:limLowPr>
                          <m:ctrlPr>
                            <a:rPr lang="en-AU" sz="2400" i="1">
                              <a:solidFill>
                                <a:srgbClr val="AE8F4B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pos m:val="bot"/>
                              <m:vertJc m:val="top"/>
                              <m:ctrlPr>
                                <a:rPr lang="en-AU" sz="2400" i="1">
                                  <a:solidFill>
                                    <a:srgbClr val="AE8F4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sSub>
                                <m:sSubPr>
                                  <m:ctrlPr>
                                    <a:rPr lang="en-AU" sz="2400" i="1">
                                      <a:solidFill>
                                        <a:srgbClr val="AE8F4B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AU" sz="2400" i="1">
                                      <a:solidFill>
                                        <a:srgbClr val="AE8F4B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AU" sz="2400" i="1">
                                      <a:solidFill>
                                        <a:srgbClr val="AE8F4B"/>
                                      </a:solidFill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AU" sz="2400" i="1">
                                      <a:solidFill>
                                        <a:srgbClr val="AE8F4B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AU" sz="2400" i="1">
                                      <a:solidFill>
                                        <a:srgbClr val="AE8F4B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sSub>
                                    <m:sSubPr>
                                      <m:ctrlPr>
                                        <a:rPr lang="en-AU" sz="2400" i="1">
                                          <a:solidFill>
                                            <a:srgbClr val="AE8F4B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AU" sz="2400" i="1">
                                          <a:solidFill>
                                            <a:srgbClr val="AE8F4B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en-AU" sz="2400" i="1">
                                          <a:solidFill>
                                            <a:srgbClr val="AE8F4B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groupChr>
                        </m:e>
                        <m:lim>
                          <m:eqArr>
                            <m:eqArrPr>
                              <m:ctrlPr>
                                <a:rPr lang="en-AU" sz="2400" b="0" i="1" smtClean="0">
                                  <a:solidFill>
                                    <a:srgbClr val="AE8F4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/>
                            <m:e>
                              <m:r>
                                <m:rPr>
                                  <m:nor/>
                                </m:rPr>
                                <a:rPr lang="en-AU" sz="2400" b="0" i="0" smtClean="0">
                                  <a:solidFill>
                                    <a:srgbClr val="AE8F4B"/>
                                  </a:solidFill>
                                  <a:latin typeface="Cambria Math" panose="02040503050406030204" pitchFamily="18" charset="0"/>
                                </a:rPr>
                                <m:t>folded signal</m:t>
                              </m:r>
                            </m:e>
                          </m:eqArr>
                        </m:lim>
                      </m:limLow>
                      <m:r>
                        <a:rPr lang="en-AU" sz="2400" i="1">
                          <a:solidFill>
                            <a:srgbClr val="F2EDE4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en-AU" sz="2400" i="1">
                              <a:solidFill>
                                <a:srgbClr val="F2EDE4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pos m:val="bot"/>
                              <m:vertJc m:val="top"/>
                              <m:ctrlPr>
                                <a:rPr lang="en-AU" sz="2400" i="1">
                                  <a:solidFill>
                                    <a:srgbClr val="F2EDE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a:rPr lang="en-AU" sz="2400" i="1">
                                  <a:solidFill>
                                    <a:srgbClr val="F2EDE4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AU" sz="2400" i="1">
                                      <a:solidFill>
                                        <a:srgbClr val="F2EDE4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AU" sz="2400" i="1">
                                      <a:solidFill>
                                        <a:srgbClr val="F2EDE4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sSub>
                                    <m:sSubPr>
                                      <m:ctrlPr>
                                        <a:rPr lang="en-AU" sz="2400" i="1">
                                          <a:solidFill>
                                            <a:srgbClr val="F2EDE4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AU" sz="2400" i="1">
                                          <a:solidFill>
                                            <a:srgbClr val="F2EDE4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en-AU" sz="2400" i="1">
                                          <a:solidFill>
                                            <a:srgbClr val="F2EDE4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groupChr>
                        </m:e>
                        <m:lim>
                          <m:eqArr>
                            <m:eqArrPr>
                              <m:ctrlPr>
                                <a:rPr lang="en-AU" sz="2400" i="1">
                                  <a:solidFill>
                                    <a:srgbClr val="F2EDE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/>
                            <m:e>
                              <m:r>
                                <m:rPr>
                                  <m:nor/>
                                </m:rPr>
                                <a:rPr lang="en-AU" sz="2400" i="0">
                                  <a:solidFill>
                                    <a:srgbClr val="F2EDE4"/>
                                  </a:solidFill>
                                  <a:latin typeface="Cambria Math" panose="02040503050406030204" pitchFamily="18" charset="0"/>
                                </a:rPr>
                                <m:t>true signal</m:t>
                              </m:r>
                            </m:e>
                          </m:eqArr>
                        </m:lim>
                      </m:limLow>
                      <m:r>
                        <a:rPr lang="en-AU" sz="2400" i="1">
                          <a:solidFill>
                            <a:srgbClr val="F2EDE4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limLow>
                        <m:limLowPr>
                          <m:ctrlPr>
                            <a:rPr lang="en-AU" sz="2400" i="1">
                              <a:solidFill>
                                <a:srgbClr val="DD6418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pos m:val="bot"/>
                              <m:vertJc m:val="top"/>
                              <m:ctrlPr>
                                <a:rPr lang="en-AU" sz="2400" i="1">
                                  <a:solidFill>
                                    <a:srgbClr val="DD641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a:rPr lang="en-AU" sz="2400" i="1">
                                  <a:solidFill>
                                    <a:srgbClr val="DD6418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d>
                                <m:dPr>
                                  <m:ctrlPr>
                                    <a:rPr lang="en-AU" sz="2400" i="1">
                                      <a:solidFill>
                                        <a:srgbClr val="DD6418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AU" sz="2400" i="1">
                                      <a:solidFill>
                                        <a:srgbClr val="DD6418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sSub>
                                    <m:sSubPr>
                                      <m:ctrlPr>
                                        <a:rPr lang="en-AU" sz="2400" i="1">
                                          <a:solidFill>
                                            <a:srgbClr val="DD6418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AU" sz="2400" i="1">
                                          <a:solidFill>
                                            <a:srgbClr val="DD6418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en-AU" sz="2400" i="1">
                                          <a:solidFill>
                                            <a:srgbClr val="DD6418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groupChr>
                        </m:e>
                        <m:lim>
                          <m:eqArr>
                            <m:eqArrPr>
                              <m:ctrlPr>
                                <a:rPr lang="en-AU" sz="2400" i="1">
                                  <a:solidFill>
                                    <a:srgbClr val="DD641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/>
                            <m:e>
                              <m:r>
                                <m:rPr>
                                  <m:nor/>
                                </m:rPr>
                                <a:rPr lang="en-AU" sz="2400" i="0">
                                  <a:solidFill>
                                    <a:srgbClr val="DD6418"/>
                                  </a:solidFill>
                                  <a:latin typeface="Cambria Math" panose="02040503050406030204" pitchFamily="18" charset="0"/>
                                </a:rPr>
                                <m:t>residual</m:t>
                              </m:r>
                            </m:e>
                          </m:eqArr>
                        </m:lim>
                      </m:limLow>
                    </m:oMath>
                  </m:oMathPara>
                </a14:m>
                <a:endParaRPr lang="en-AU" sz="3200" noProof="0" dirty="0">
                  <a:solidFill>
                    <a:srgbClr val="F2EDE4"/>
                  </a:solidFill>
                </a:endParaRPr>
              </a:p>
              <a:p>
                <a:pPr>
                  <a:spcAft>
                    <a:spcPts val="1200"/>
                  </a:spcAft>
                  <a:buSzPct val="100000"/>
                </a:pPr>
                <a:endParaRPr lang="en-AU" sz="2400" dirty="0">
                  <a:solidFill>
                    <a:srgbClr val="F2EDE4"/>
                  </a:solidFill>
                </a:endParaRPr>
              </a:p>
              <a:p>
                <a:pPr>
                  <a:spcAft>
                    <a:spcPts val="1200"/>
                  </a:spcAft>
                  <a:buSzPct val="100000"/>
                </a:pPr>
                <a:r>
                  <a:rPr lang="en-AU" sz="2400" noProof="0" dirty="0">
                    <a:solidFill>
                      <a:srgbClr val="F2EDE4"/>
                    </a:solidFill>
                  </a:rPr>
                  <a:t>For modulo:</a:t>
                </a:r>
              </a:p>
              <a:p>
                <a:pPr>
                  <a:spcAft>
                    <a:spcPts val="1200"/>
                  </a:spcAft>
                  <a:buSzPct val="100000"/>
                </a:pPr>
                <a14:m>
                  <m:oMathPara xmlns:m="http://schemas.openxmlformats.org/officeDocument/2006/math">
                    <m:oMath>
                      <m:r>
                        <a:rPr lang="en-AU" sz="2400" i="1" smtClean="0">
                          <a:solidFill>
                            <a:srgbClr val="F2EDE4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d>
                        <m:dPr>
                          <m:ctrlPr>
                            <a:rPr lang="en-AU" sz="2400" i="1">
                              <a:solidFill>
                                <a:srgbClr val="F2EDE4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400" i="1">
                              <a:solidFill>
                                <a:srgbClr val="F2EDE4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sSub>
                            <m:sSubPr>
                              <m:ctrlPr>
                                <a:rPr lang="en-AU" sz="2400" i="1">
                                  <a:solidFill>
                                    <a:srgbClr val="F2EDE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400" i="1">
                                  <a:solidFill>
                                    <a:srgbClr val="F2EDE4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AU" sz="2400" i="1">
                                  <a:solidFill>
                                    <a:srgbClr val="F2EDE4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e>
                      </m:d>
                      <m:r>
                        <a:rPr lang="en-AU" sz="2400" i="1">
                          <a:solidFill>
                            <a:srgbClr val="F2EDE4"/>
                          </a:solidFill>
                          <a:latin typeface="Cambria Math" panose="02040503050406030204" pitchFamily="18" charset="0"/>
                        </a:rPr>
                        <m:t>∈2</m:t>
                      </m:r>
                      <m:r>
                        <a:rPr lang="en-AU" sz="2400" i="1">
                          <a:solidFill>
                            <a:srgbClr val="F2EDE4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AU" sz="2400" i="1">
                          <a:solidFill>
                            <a:srgbClr val="F2EDE4"/>
                          </a:solidFill>
                          <a:latin typeface="Cambria Math" panose="02040503050406030204" pitchFamily="18" charset="0"/>
                        </a:rPr>
                        <m:t>ℤ</m:t>
                      </m:r>
                    </m:oMath>
                  </m:oMathPara>
                </a14:m>
                <a:endParaRPr lang="en-AU" sz="2400" noProof="0" dirty="0">
                  <a:solidFill>
                    <a:srgbClr val="F2EDE4"/>
                  </a:solidFill>
                </a:endParaRPr>
              </a:p>
            </p:txBody>
          </p:sp>
        </mc:Choice>
        <mc:Fallback xmlns="">
          <p:sp>
            <p:nvSpPr>
              <p:cNvPr id="16" name="Text 1">
                <a:extLst>
                  <a:ext uri="{FF2B5EF4-FFF2-40B4-BE49-F238E27FC236}">
                    <a16:creationId xmlns:a16="http://schemas.microsoft.com/office/drawing/2014/main" id="{17363849-559D-0598-C864-03A045D912D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643" y="2259003"/>
                <a:ext cx="5856357" cy="4114800"/>
              </a:xfrm>
              <a:prstGeom prst="rect">
                <a:avLst/>
              </a:prstGeom>
              <a:blipFill>
                <a:blip r:embed="rId3"/>
                <a:stretch>
                  <a:fillRect l="-1512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40402810-4B0E-6885-5797-EC9B633DB3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5690" y="1502506"/>
            <a:ext cx="5976667" cy="4463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58577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32">
            <a:extLst>
              <a:ext uri="{FF2B5EF4-FFF2-40B4-BE49-F238E27FC236}">
                <a16:creationId xmlns:a16="http://schemas.microsoft.com/office/drawing/2014/main" id="{242E7493-43FB-506C-1A0D-4CFADC1844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5156" y="1393939"/>
            <a:ext cx="5680344" cy="4242282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640080" y="5486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AU" sz="3200" b="1" noProof="0" dirty="0">
                <a:solidFill>
                  <a:srgbClr val="F2EDE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Time-Domain Separation</a:t>
            </a:r>
          </a:p>
          <a:p>
            <a:pPr marL="0" indent="0">
              <a:buNone/>
            </a:pPr>
            <a:r>
              <a:rPr lang="en-AU" sz="1600" noProof="0" dirty="0">
                <a:solidFill>
                  <a:srgbClr val="C49A45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Bandlimited finite-energy signals decay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 1">
                <a:extLst>
                  <a:ext uri="{FF2B5EF4-FFF2-40B4-BE49-F238E27FC236}">
                    <a16:creationId xmlns:a16="http://schemas.microsoft.com/office/drawing/2014/main" id="{CD1E0199-4501-93E4-0669-A65CC3F34A5F}"/>
                  </a:ext>
                </a:extLst>
              </p:cNvPr>
              <p:cNvSpPr/>
              <p:nvPr/>
            </p:nvSpPr>
            <p:spPr>
              <a:xfrm>
                <a:off x="640080" y="1737360"/>
                <a:ext cx="5852160" cy="4114800"/>
              </a:xfrm>
              <a:prstGeom prst="rect">
                <a:avLst/>
              </a:prstGeom>
              <a:noFill/>
              <a:ln/>
            </p:spPr>
            <p:txBody>
              <a:bodyPr wrap="square" rtlCol="0" anchor="t"/>
              <a:lstStyle/>
              <a:p>
                <a:pPr>
                  <a:spcAft>
                    <a:spcPts val="1200"/>
                  </a:spcAft>
                  <a:buSzPct val="100000"/>
                </a:pPr>
                <a:r>
                  <a:rPr lang="en-AU" noProof="0" dirty="0">
                    <a:solidFill>
                      <a:srgbClr val="F2EDE4"/>
                    </a:solidFill>
                  </a:rPr>
                  <a:t>There exists an integer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b="0" i="1" noProof="0" smtClean="0">
                            <a:solidFill>
                              <a:srgbClr val="F2EDE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AU" b="0" i="1" noProof="0" smtClean="0">
                            <a:solidFill>
                              <a:srgbClr val="F2EDE4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sub>
                        <m:r>
                          <a:rPr lang="en-AU" i="1" noProof="0" smtClean="0">
                            <a:solidFill>
                              <a:srgbClr val="F2EDE4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sub>
                    </m:sSub>
                  </m:oMath>
                </a14:m>
                <a:r>
                  <a:rPr lang="en-AU" noProof="0" dirty="0">
                    <a:solidFill>
                      <a:srgbClr val="F2EDE4"/>
                    </a:solidFill>
                  </a:rPr>
                  <a:t> such that the samples stay within the bandlimit beyond it.</a:t>
                </a:r>
              </a:p>
              <a:p>
                <a:pPr>
                  <a:spcAft>
                    <a:spcPts val="1200"/>
                  </a:spcAft>
                  <a:buSzPct val="100000"/>
                </a:pPr>
                <a14:m>
                  <m:oMathPara xmlns:m="http://schemas.openxmlformats.org/officeDocument/2006/math">
                    <m:oMath>
                      <m:d>
                        <m:dPr>
                          <m:begChr m:val="|"/>
                          <m:endChr m:val="|"/>
                          <m:ctrlPr>
                            <a:rPr lang="en-AU" sz="2400" i="1" noProof="0" smtClean="0">
                              <a:solidFill>
                                <a:srgbClr val="F2EDE4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400" i="1" noProof="0" smtClean="0">
                              <a:solidFill>
                                <a:srgbClr val="F2EDE4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AU" sz="2400" i="1" noProof="0" smtClean="0">
                                  <a:solidFill>
                                    <a:srgbClr val="F2EDE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AU" sz="2400" i="1" noProof="0" smtClean="0">
                                  <a:solidFill>
                                    <a:srgbClr val="F2EDE4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sSub>
                                <m:sSubPr>
                                  <m:ctrlPr>
                                    <a:rPr lang="en-AU" sz="2400" i="1" noProof="0" smtClean="0">
                                      <a:solidFill>
                                        <a:srgbClr val="F2EDE4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AU" sz="2400" i="1" noProof="0" smtClean="0">
                                      <a:solidFill>
                                        <a:srgbClr val="F2EDE4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AU" sz="2400" i="1" noProof="0" smtClean="0">
                                      <a:solidFill>
                                        <a:srgbClr val="F2EDE4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AU" sz="2400" i="1" noProof="0" smtClean="0">
                          <a:solidFill>
                            <a:srgbClr val="F2EDE4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AU" sz="2400" i="1" noProof="0" smtClean="0">
                          <a:solidFill>
                            <a:srgbClr val="F2EDE4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AU" sz="2400" i="1" noProof="0" smtClean="0">
                          <a:solidFill>
                            <a:srgbClr val="F2EDE4"/>
                          </a:solidFill>
                          <a:latin typeface="Cambria Math" panose="02040503050406030204" pitchFamily="18" charset="0"/>
                        </a:rPr>
                        <m:t>, ∀ </m:t>
                      </m:r>
                      <m:d>
                        <m:dPr>
                          <m:begChr m:val="|"/>
                          <m:endChr m:val="|"/>
                          <m:ctrlPr>
                            <a:rPr lang="en-AU" sz="2400" i="1" noProof="0" smtClean="0">
                              <a:solidFill>
                                <a:srgbClr val="F2EDE4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400" i="1" noProof="0" smtClean="0">
                              <a:solidFill>
                                <a:srgbClr val="F2EDE4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AU" sz="2400" i="1" noProof="0" smtClean="0">
                          <a:solidFill>
                            <a:srgbClr val="F2EDE4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en-AU" sz="2400" i="1" noProof="0" smtClean="0">
                              <a:solidFill>
                                <a:srgbClr val="F2EDE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400" i="1" noProof="0" smtClean="0">
                              <a:solidFill>
                                <a:srgbClr val="F2EDE4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AU" sz="2400" i="1" noProof="0" smtClean="0">
                              <a:solidFill>
                                <a:srgbClr val="F2EDE4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sub>
                      </m:sSub>
                    </m:oMath>
                  </m:oMathPara>
                </a14:m>
                <a:endParaRPr lang="en-AU" noProof="0" dirty="0">
                  <a:solidFill>
                    <a:srgbClr val="F2EDE4"/>
                  </a:solidFill>
                </a:endParaRPr>
              </a:p>
              <a:p>
                <a:pPr>
                  <a:spcAft>
                    <a:spcPts val="1200"/>
                  </a:spcAft>
                  <a:buSzPct val="100000"/>
                </a:pPr>
                <a:r>
                  <a:rPr lang="en-AU" noProof="0" dirty="0">
                    <a:solidFill>
                      <a:srgbClr val="F2EDE4"/>
                    </a:solidFill>
                  </a:rPr>
                  <a:t>Beyond it:</a:t>
                </a:r>
              </a:p>
              <a:p>
                <a:pPr>
                  <a:spcAft>
                    <a:spcPts val="1200"/>
                  </a:spcAft>
                  <a:buSzPct val="100000"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AU" sz="2400" i="1" noProof="0" smtClean="0">
                              <a:solidFill>
                                <a:srgbClr val="F2EDE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400" i="1" noProof="0" smtClean="0">
                              <a:solidFill>
                                <a:srgbClr val="F2EDE4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AU" sz="2400" i="1" noProof="0" smtClean="0">
                              <a:solidFill>
                                <a:srgbClr val="F2EDE4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sub>
                      </m:sSub>
                      <m:d>
                        <m:dPr>
                          <m:ctrlPr>
                            <a:rPr lang="en-AU" sz="2400" i="1" noProof="0" smtClean="0">
                              <a:solidFill>
                                <a:srgbClr val="F2EDE4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400" i="1" noProof="0" smtClean="0">
                              <a:solidFill>
                                <a:srgbClr val="F2EDE4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sSub>
                            <m:sSubPr>
                              <m:ctrlPr>
                                <a:rPr lang="en-AU" sz="2400" i="1" noProof="0" smtClean="0">
                                  <a:solidFill>
                                    <a:srgbClr val="F2EDE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400" i="1" noProof="0" smtClean="0">
                                  <a:solidFill>
                                    <a:srgbClr val="F2EDE4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AU" sz="2400" i="1" noProof="0" smtClean="0">
                                  <a:solidFill>
                                    <a:srgbClr val="F2EDE4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e>
                      </m:d>
                      <m:r>
                        <a:rPr lang="en-AU" sz="2400" i="1" noProof="0" smtClean="0">
                          <a:solidFill>
                            <a:srgbClr val="F2EDE4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400" i="1" noProof="0" smtClean="0">
                          <a:solidFill>
                            <a:srgbClr val="F2EDE4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AU" sz="2400" i="1" noProof="0" smtClean="0">
                              <a:solidFill>
                                <a:srgbClr val="F2EDE4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400" i="1" noProof="0" smtClean="0">
                              <a:solidFill>
                                <a:srgbClr val="F2EDE4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sSub>
                            <m:sSubPr>
                              <m:ctrlPr>
                                <a:rPr lang="en-AU" sz="2400" i="1" noProof="0" smtClean="0">
                                  <a:solidFill>
                                    <a:srgbClr val="F2EDE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400" i="1" noProof="0" smtClean="0">
                                  <a:solidFill>
                                    <a:srgbClr val="F2EDE4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AU" sz="2400" i="1" noProof="0" smtClean="0">
                                  <a:solidFill>
                                    <a:srgbClr val="F2EDE4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e>
                      </m:d>
                      <m:r>
                        <a:rPr lang="en-AU" sz="2400" i="1" noProof="0" smtClean="0">
                          <a:solidFill>
                            <a:srgbClr val="F2EDE4"/>
                          </a:solidFill>
                          <a:latin typeface="Cambria Math" panose="02040503050406030204" pitchFamily="18" charset="0"/>
                        </a:rPr>
                        <m:t>, </m:t>
                      </m:r>
                      <m:r>
                        <a:rPr lang="en-AU" sz="2400" i="1" noProof="0" smtClean="0">
                          <a:solidFill>
                            <a:srgbClr val="F2EDE4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d>
                        <m:dPr>
                          <m:ctrlPr>
                            <a:rPr lang="en-AU" sz="2400" i="1" noProof="0" smtClean="0">
                              <a:solidFill>
                                <a:srgbClr val="F2EDE4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400" i="1" noProof="0" smtClean="0">
                              <a:solidFill>
                                <a:srgbClr val="F2EDE4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sSub>
                            <m:sSubPr>
                              <m:ctrlPr>
                                <a:rPr lang="en-AU" sz="2400" i="1" noProof="0" smtClean="0">
                                  <a:solidFill>
                                    <a:srgbClr val="F2EDE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400" i="1" noProof="0" smtClean="0">
                                  <a:solidFill>
                                    <a:srgbClr val="F2EDE4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AU" sz="2400" i="1" noProof="0" smtClean="0">
                                  <a:solidFill>
                                    <a:srgbClr val="F2EDE4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e>
                      </m:d>
                      <m:r>
                        <a:rPr lang="en-AU" sz="2400" i="1" noProof="0" smtClean="0">
                          <a:solidFill>
                            <a:srgbClr val="F2EDE4"/>
                          </a:solidFill>
                          <a:latin typeface="Cambria Math" panose="02040503050406030204" pitchFamily="18" charset="0"/>
                        </a:rPr>
                        <m:t>=0, </m:t>
                      </m:r>
                      <m:d>
                        <m:dPr>
                          <m:begChr m:val="|"/>
                          <m:endChr m:val="|"/>
                          <m:ctrlPr>
                            <a:rPr lang="en-AU" sz="2400" i="1" noProof="0" smtClean="0">
                              <a:solidFill>
                                <a:srgbClr val="F2EDE4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400" i="1" noProof="0" smtClean="0">
                              <a:solidFill>
                                <a:srgbClr val="F2EDE4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AU" sz="2400" i="1" noProof="0" smtClean="0">
                          <a:solidFill>
                            <a:srgbClr val="F2EDE4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en-AU" sz="2400" i="1" noProof="0" smtClean="0">
                              <a:solidFill>
                                <a:srgbClr val="F2EDE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400" i="1" noProof="0" smtClean="0">
                              <a:solidFill>
                                <a:srgbClr val="F2EDE4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AU" sz="2400" i="1" noProof="0" smtClean="0">
                              <a:solidFill>
                                <a:srgbClr val="F2EDE4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sub>
                      </m:sSub>
                    </m:oMath>
                  </m:oMathPara>
                </a14:m>
                <a:endParaRPr lang="en-AU" noProof="0" dirty="0">
                  <a:solidFill>
                    <a:srgbClr val="F2EDE4"/>
                  </a:solidFill>
                </a:endParaRPr>
              </a:p>
              <a:p>
                <a:pPr>
                  <a:spcAft>
                    <a:spcPts val="1200"/>
                  </a:spcAft>
                  <a:buSzPct val="100000"/>
                </a:pPr>
                <a:r>
                  <a:rPr lang="en-AU" noProof="0" dirty="0">
                    <a:solidFill>
                      <a:srgbClr val="F2EDE4"/>
                    </a:solidFill>
                  </a:rPr>
                  <a:t>The </a:t>
                </a:r>
                <a:r>
                  <a:rPr lang="en-AU" noProof="0" dirty="0">
                    <a:solidFill>
                      <a:srgbClr val="D4621A"/>
                    </a:solidFill>
                  </a:rPr>
                  <a:t>residual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AU" b="0" i="1" noProof="0" smtClean="0">
                        <a:solidFill>
                          <a:srgbClr val="D4621A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lang="en-AU" noProof="0" dirty="0">
                    <a:solidFill>
                      <a:srgbClr val="F2EDE4"/>
                    </a:solidFill>
                  </a:rPr>
                  <a:t> is time-limited to the finite index set and </a:t>
                </a:r>
                <a:r>
                  <a:rPr lang="en-AU" noProof="0" dirty="0">
                    <a:solidFill>
                      <a:srgbClr val="D4621A"/>
                    </a:solidFill>
                  </a:rPr>
                  <a:t>at most has </a:t>
                </a:r>
                <a14:m>
                  <m:oMath xmlns:m="http://schemas.openxmlformats.org/officeDocument/2006/math">
                    <m:r>
                      <a:rPr lang="en-AU" i="1" noProof="0" smtClean="0">
                        <a:solidFill>
                          <a:srgbClr val="D4621A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sSubPr>
                        <m:ctrlPr>
                          <a:rPr lang="en-AU" i="1" noProof="0" smtClean="0">
                            <a:solidFill>
                              <a:srgbClr val="D4621A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i="1" noProof="0" smtClean="0">
                            <a:solidFill>
                              <a:srgbClr val="D4621A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AU" i="1" noProof="0" smtClean="0">
                            <a:solidFill>
                              <a:srgbClr val="D4621A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sub>
                    </m:sSub>
                    <m:r>
                      <a:rPr lang="en-AU" i="1" noProof="0" smtClean="0">
                        <a:solidFill>
                          <a:srgbClr val="D4621A"/>
                        </a:solidFill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AU" noProof="0" dirty="0">
                    <a:solidFill>
                      <a:srgbClr val="D4621A"/>
                    </a:solidFill>
                  </a:rPr>
                  <a:t> non-zero entries</a:t>
                </a:r>
                <a:r>
                  <a:rPr lang="en-AU" noProof="0" dirty="0">
                    <a:solidFill>
                      <a:srgbClr val="F2EDE4"/>
                    </a:solidFill>
                  </a:rPr>
                  <a:t>.</a:t>
                </a:r>
              </a:p>
              <a:p>
                <a:pPr>
                  <a:spcAft>
                    <a:spcPts val="1200"/>
                  </a:spcAft>
                  <a:buSzPct val="100000"/>
                </a:pPr>
                <a:endParaRPr lang="en-AU" noProof="0" dirty="0">
                  <a:solidFill>
                    <a:srgbClr val="F2EDE4"/>
                  </a:solidFill>
                </a:endParaRPr>
              </a:p>
              <a:p>
                <a:pPr>
                  <a:spcAft>
                    <a:spcPts val="1200"/>
                  </a:spcAft>
                  <a:buSzPct val="100000"/>
                </a:pPr>
                <a:endParaRPr lang="en-AU" noProof="0" dirty="0">
                  <a:solidFill>
                    <a:srgbClr val="F2EDE4"/>
                  </a:solidFill>
                </a:endParaRPr>
              </a:p>
            </p:txBody>
          </p:sp>
        </mc:Choice>
        <mc:Fallback xmlns="">
          <p:sp>
            <p:nvSpPr>
              <p:cNvPr id="16" name="Text 1">
                <a:extLst>
                  <a:ext uri="{FF2B5EF4-FFF2-40B4-BE49-F238E27FC236}">
                    <a16:creationId xmlns:a16="http://schemas.microsoft.com/office/drawing/2014/main" id="{CD1E0199-4501-93E4-0669-A65CC3F34A5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" y="1737360"/>
                <a:ext cx="5852160" cy="4114800"/>
              </a:xfrm>
              <a:prstGeom prst="rect">
                <a:avLst/>
              </a:prstGeom>
              <a:blipFill>
                <a:blip r:embed="rId4"/>
                <a:stretch>
                  <a:fillRect l="-833" t="-741"/>
                </a:stretch>
              </a:blipFill>
              <a:ln/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6E2B4B-9F35-936B-06FC-4D649107B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AAEDD58-6E34-C22C-CF0D-EA17E1D37617}"/>
              </a:ext>
            </a:extLst>
          </p:cNvPr>
          <p:cNvSpPr/>
          <p:nvPr/>
        </p:nvSpPr>
        <p:spPr>
          <a:xfrm>
            <a:off x="640080" y="5486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AU" sz="3200" b="1" noProof="0" dirty="0">
                <a:solidFill>
                  <a:srgbClr val="F2EDE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Fourier-Domain Separation</a:t>
            </a:r>
          </a:p>
          <a:p>
            <a:pPr marL="0" indent="0">
              <a:buNone/>
            </a:pPr>
            <a:r>
              <a:rPr lang="en-AU" sz="1600" noProof="0" dirty="0">
                <a:solidFill>
                  <a:srgbClr val="C49A45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The spectral energy in the band-gap region is “purely” the residual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 1">
                <a:extLst>
                  <a:ext uri="{FF2B5EF4-FFF2-40B4-BE49-F238E27FC236}">
                    <a16:creationId xmlns:a16="http://schemas.microsoft.com/office/drawing/2014/main" id="{34D144E5-55B7-221F-B874-03D56A65B85A}"/>
                  </a:ext>
                </a:extLst>
              </p:cNvPr>
              <p:cNvSpPr/>
              <p:nvPr/>
            </p:nvSpPr>
            <p:spPr>
              <a:xfrm>
                <a:off x="640080" y="1737360"/>
                <a:ext cx="5852160" cy="4114800"/>
              </a:xfrm>
              <a:prstGeom prst="rect">
                <a:avLst/>
              </a:prstGeom>
              <a:noFill/>
              <a:ln/>
            </p:spPr>
            <p:txBody>
              <a:bodyPr wrap="square" rtlCol="0" anchor="t"/>
              <a:lstStyle/>
              <a:p>
                <a:pPr>
                  <a:spcAft>
                    <a:spcPts val="1200"/>
                  </a:spcAft>
                  <a:buSzPct val="100000"/>
                </a:pPr>
                <a:r>
                  <a:rPr lang="en-AU" sz="1800" noProof="0" dirty="0">
                    <a:solidFill>
                      <a:srgbClr val="F2EDE4"/>
                    </a:solidFill>
                  </a:rPr>
                  <a:t>Sampling above the Nyquist rate leaves a band-gap region </a:t>
                </a:r>
                <a14:m>
                  <m:oMath xmlns:m="http://schemas.openxmlformats.org/officeDocument/2006/math">
                    <m:r>
                      <a:rPr lang="en-AU" sz="1800" i="1" noProof="0" smtClean="0">
                        <a:solidFill>
                          <a:srgbClr val="F2EDE4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AU" sz="1800" noProof="0" dirty="0">
                    <a:solidFill>
                      <a:srgbClr val="F2EDE4"/>
                    </a:solidFill>
                  </a:rPr>
                  <a:t>.</a:t>
                </a:r>
              </a:p>
              <a:p>
                <a:pPr>
                  <a:spcAft>
                    <a:spcPts val="1200"/>
                  </a:spcAft>
                  <a:buSzPct val="100000"/>
                </a:pPr>
                <a14:m>
                  <m:oMathPara xmlns:m="http://schemas.openxmlformats.org/officeDocument/2006/math">
                    <m:oMath>
                      <m:r>
                        <a:rPr lang="en-AU" sz="2400" i="1" noProof="0" smtClean="0">
                          <a:solidFill>
                            <a:srgbClr val="F2EDE4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AU" sz="2400" i="1" noProof="0" smtClean="0">
                              <a:solidFill>
                                <a:srgbClr val="F2EDE4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AU" sz="2400" i="1" noProof="0" smtClean="0">
                                  <a:solidFill>
                                    <a:srgbClr val="F2EDE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sz="2400" i="1" noProof="0" smtClean="0">
                                  <a:solidFill>
                                    <a:srgbClr val="F2EDE4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AU" sz="2400" i="1" noProof="0" smtClean="0">
                                  <a:solidFill>
                                    <a:srgbClr val="F2EDE4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AU" sz="2400" i="1" noProof="0" smtClean="0">
                                  <a:solidFill>
                                    <a:srgbClr val="F2EDE4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sSub>
                                <m:sSubPr>
                                  <m:ctrlPr>
                                    <a:rPr lang="en-AU" sz="2400" i="1" noProof="0" smtClean="0">
                                      <a:solidFill>
                                        <a:srgbClr val="F2EDE4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AU" sz="2400" i="1" noProof="0" smtClean="0">
                                      <a:solidFill>
                                        <a:srgbClr val="F2EDE4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AU" sz="2400" i="1" noProof="0" smtClean="0">
                                      <a:solidFill>
                                        <a:srgbClr val="F2EDE4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</m:sup>
                          </m:sSup>
                        </m:e>
                      </m:d>
                      <m:r>
                        <a:rPr lang="en-AU" sz="2400" i="1" noProof="0" smtClean="0">
                          <a:solidFill>
                            <a:srgbClr val="F2EDE4"/>
                          </a:solidFill>
                          <a:latin typeface="Cambria Math" panose="02040503050406030204" pitchFamily="18" charset="0"/>
                        </a:rPr>
                        <m:t>=0, </m:t>
                      </m:r>
                      <m:sSub>
                        <m:sSubPr>
                          <m:ctrlPr>
                            <a:rPr lang="en-AU" sz="2400" i="1" noProof="0" smtClean="0">
                              <a:solidFill>
                                <a:srgbClr val="F2EDE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400" i="1" noProof="0" smtClean="0">
                              <a:solidFill>
                                <a:srgbClr val="F2EDE4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AU" sz="2400" i="1" noProof="0" smtClean="0">
                              <a:solidFill>
                                <a:srgbClr val="F2EDE4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AU" sz="2400" i="1" noProof="0" smtClean="0">
                          <a:solidFill>
                            <a:srgbClr val="F2EDE4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d>
                        <m:dPr>
                          <m:begChr m:val="|"/>
                          <m:endChr m:val="|"/>
                          <m:ctrlPr>
                            <a:rPr lang="en-AU" sz="2400" i="1" noProof="0" smtClean="0">
                              <a:solidFill>
                                <a:srgbClr val="F2EDE4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400" i="1" noProof="0" smtClean="0">
                              <a:solidFill>
                                <a:srgbClr val="F2EDE4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en-AU" sz="2400" i="1" noProof="0" smtClean="0">
                          <a:solidFill>
                            <a:srgbClr val="F2EDE4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AU" sz="2400" i="1" noProof="0" smtClean="0">
                              <a:solidFill>
                                <a:srgbClr val="F2EDE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400" i="1" noProof="0" smtClean="0">
                              <a:solidFill>
                                <a:srgbClr val="F2EDE4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AU" sz="2400" i="1" noProof="0" smtClean="0">
                              <a:solidFill>
                                <a:srgbClr val="F2EDE4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m:rPr>
                          <m:lit/>
                        </m:rPr>
                        <a:rPr lang="en-AU" sz="2400" i="1" noProof="0" smtClean="0">
                          <a:solidFill>
                            <a:srgbClr val="F2EDE4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AU" sz="2400" i="1" noProof="0" smtClean="0">
                          <a:solidFill>
                            <a:srgbClr val="F2EDE4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AU" sz="1800" noProof="0" dirty="0">
                  <a:solidFill>
                    <a:srgbClr val="F2EDE4"/>
                  </a:solidFill>
                </a:endParaRPr>
              </a:p>
              <a:p>
                <a:pPr>
                  <a:spcAft>
                    <a:spcPts val="1200"/>
                  </a:spcAft>
                  <a:buSzPct val="100000"/>
                </a:pPr>
                <a:endParaRPr lang="en-AU" sz="1800" noProof="0" dirty="0">
                  <a:solidFill>
                    <a:srgbClr val="F2EDE4"/>
                  </a:solidFill>
                </a:endParaRPr>
              </a:p>
              <a:p>
                <a:pPr>
                  <a:spcAft>
                    <a:spcPts val="1200"/>
                  </a:spcAft>
                  <a:buSzPct val="100000"/>
                </a:pPr>
                <a:r>
                  <a:rPr lang="en-AU" noProof="0" dirty="0">
                    <a:solidFill>
                      <a:srgbClr val="F2EDE4"/>
                    </a:solidFill>
                  </a:rPr>
                  <a:t>Taking the DTFT and using linearity, </a:t>
                </a:r>
                <a:r>
                  <a:rPr lang="en-AU" noProof="0" dirty="0">
                    <a:solidFill>
                      <a:srgbClr val="D4621A"/>
                    </a:solidFill>
                  </a:rPr>
                  <a:t>only the residual survives within the vacant band</a:t>
                </a:r>
                <a:r>
                  <a:rPr lang="en-AU" noProof="0" dirty="0">
                    <a:solidFill>
                      <a:srgbClr val="F2EDE4"/>
                    </a:solidFill>
                  </a:rPr>
                  <a:t>.</a:t>
                </a:r>
              </a:p>
              <a:p>
                <a:pPr>
                  <a:spcAft>
                    <a:spcPts val="1200"/>
                  </a:spcAft>
                  <a:buSzPct val="100000"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AU" sz="2400" i="1" noProof="0" smtClean="0">
                              <a:solidFill>
                                <a:srgbClr val="F2EDE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400" i="1" noProof="0" smtClean="0">
                              <a:solidFill>
                                <a:srgbClr val="F2EDE4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AU" sz="2400" i="1" noProof="0" smtClean="0">
                              <a:solidFill>
                                <a:srgbClr val="F2EDE4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sub>
                      </m:sSub>
                      <m:d>
                        <m:dPr>
                          <m:ctrlPr>
                            <a:rPr lang="en-AU" sz="2400" i="1" noProof="0" smtClean="0">
                              <a:solidFill>
                                <a:srgbClr val="F2EDE4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AU" sz="2400" i="1" noProof="0" smtClean="0">
                                  <a:solidFill>
                                    <a:srgbClr val="F2EDE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sz="2400" i="1" noProof="0" smtClean="0">
                                  <a:solidFill>
                                    <a:srgbClr val="F2EDE4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AU" sz="2400" i="1" noProof="0" smtClean="0">
                                  <a:solidFill>
                                    <a:srgbClr val="F2EDE4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AU" sz="2400" i="1" noProof="0" smtClean="0">
                                  <a:solidFill>
                                    <a:srgbClr val="F2EDE4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sSub>
                                <m:sSubPr>
                                  <m:ctrlPr>
                                    <a:rPr lang="en-AU" sz="2400" i="1" noProof="0" smtClean="0">
                                      <a:solidFill>
                                        <a:srgbClr val="F2EDE4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AU" sz="2400" i="1" noProof="0" smtClean="0">
                                      <a:solidFill>
                                        <a:srgbClr val="F2EDE4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AU" sz="2400" i="1" noProof="0" smtClean="0">
                                      <a:solidFill>
                                        <a:srgbClr val="F2EDE4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</m:sup>
                          </m:sSup>
                        </m:e>
                      </m:d>
                      <m:r>
                        <a:rPr lang="en-AU" sz="2400" i="1" noProof="0" smtClean="0">
                          <a:solidFill>
                            <a:srgbClr val="F2EDE4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400" i="1" noProof="0" smtClean="0">
                          <a:solidFill>
                            <a:srgbClr val="F2EDE4"/>
                          </a:solidFill>
                          <a:latin typeface="Cambria Math" panose="02040503050406030204" pitchFamily="18" charset="0"/>
                        </a:rPr>
                        <m:t>𝑍</m:t>
                      </m:r>
                      <m:d>
                        <m:dPr>
                          <m:ctrlPr>
                            <a:rPr lang="en-AU" sz="2400" i="1" noProof="0" smtClean="0">
                              <a:solidFill>
                                <a:srgbClr val="F2EDE4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AU" sz="2400" i="1" noProof="0" smtClean="0">
                                  <a:solidFill>
                                    <a:srgbClr val="F2EDE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sz="2400" i="1" noProof="0" smtClean="0">
                                  <a:solidFill>
                                    <a:srgbClr val="F2EDE4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AU" sz="2400" i="1" noProof="0" smtClean="0">
                                  <a:solidFill>
                                    <a:srgbClr val="F2EDE4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AU" sz="2400" i="1" noProof="0" smtClean="0">
                                  <a:solidFill>
                                    <a:srgbClr val="F2EDE4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sSub>
                                <m:sSubPr>
                                  <m:ctrlPr>
                                    <a:rPr lang="en-AU" sz="2400" i="1" noProof="0" smtClean="0">
                                      <a:solidFill>
                                        <a:srgbClr val="F2EDE4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AU" sz="2400" i="1" noProof="0" smtClean="0">
                                      <a:solidFill>
                                        <a:srgbClr val="F2EDE4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AU" sz="2400" i="1" noProof="0" smtClean="0">
                                      <a:solidFill>
                                        <a:srgbClr val="F2EDE4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</m:sup>
                          </m:sSup>
                        </m:e>
                      </m:d>
                      <m:r>
                        <a:rPr lang="en-AU" sz="2400" i="1" noProof="0" smtClean="0">
                          <a:solidFill>
                            <a:srgbClr val="F2EDE4"/>
                          </a:solidFill>
                          <a:latin typeface="Cambria Math" panose="02040503050406030204" pitchFamily="18" charset="0"/>
                        </a:rPr>
                        <m:t>, </m:t>
                      </m:r>
                      <m:sSub>
                        <m:sSubPr>
                          <m:ctrlPr>
                            <a:rPr lang="en-AU" sz="2400" i="1" noProof="0" smtClean="0">
                              <a:solidFill>
                                <a:srgbClr val="F2EDE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400" i="1" noProof="0" smtClean="0">
                              <a:solidFill>
                                <a:srgbClr val="F2EDE4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AU" sz="2400" i="1" noProof="0" smtClean="0">
                              <a:solidFill>
                                <a:srgbClr val="F2EDE4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AU" sz="2400" i="1" noProof="0" smtClean="0">
                          <a:solidFill>
                            <a:srgbClr val="F2EDE4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d>
                        <m:dPr>
                          <m:begChr m:val="|"/>
                          <m:endChr m:val="|"/>
                          <m:ctrlPr>
                            <a:rPr lang="en-AU" sz="2400" i="1" noProof="0" smtClean="0">
                              <a:solidFill>
                                <a:srgbClr val="F2EDE4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400" i="1" noProof="0" smtClean="0">
                              <a:solidFill>
                                <a:srgbClr val="F2EDE4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en-AU" sz="2400" i="1" noProof="0" smtClean="0">
                          <a:solidFill>
                            <a:srgbClr val="F2EDE4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AU" sz="2400" i="1" noProof="0" smtClean="0">
                              <a:solidFill>
                                <a:srgbClr val="F2EDE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400" i="1" noProof="0" smtClean="0">
                              <a:solidFill>
                                <a:srgbClr val="F2EDE4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AU" sz="2400" i="1" noProof="0" smtClean="0">
                              <a:solidFill>
                                <a:srgbClr val="F2EDE4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m:rPr>
                          <m:lit/>
                        </m:rPr>
                        <a:rPr lang="en-AU" sz="2400" i="1" noProof="0" smtClean="0">
                          <a:solidFill>
                            <a:srgbClr val="F2EDE4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AU" sz="2400" i="1" noProof="0" smtClean="0">
                          <a:solidFill>
                            <a:srgbClr val="F2EDE4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AU" sz="2400" noProof="0" dirty="0">
                  <a:solidFill>
                    <a:srgbClr val="F2EDE4"/>
                  </a:solidFill>
                </a:endParaRPr>
              </a:p>
            </p:txBody>
          </p:sp>
        </mc:Choice>
        <mc:Fallback xmlns="">
          <p:sp>
            <p:nvSpPr>
              <p:cNvPr id="16" name="Text 1">
                <a:extLst>
                  <a:ext uri="{FF2B5EF4-FFF2-40B4-BE49-F238E27FC236}">
                    <a16:creationId xmlns:a16="http://schemas.microsoft.com/office/drawing/2014/main" id="{34D144E5-55B7-221F-B874-03D56A65B85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" y="1737360"/>
                <a:ext cx="5852160" cy="4114800"/>
              </a:xfrm>
              <a:prstGeom prst="rect">
                <a:avLst/>
              </a:prstGeom>
              <a:blipFill>
                <a:blip r:embed="rId3"/>
                <a:stretch>
                  <a:fillRect l="-833" t="-741"/>
                </a:stretch>
              </a:blipFill>
              <a:ln/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7" name="Picture 36">
            <a:extLst>
              <a:ext uri="{FF2B5EF4-FFF2-40B4-BE49-F238E27FC236}">
                <a16:creationId xmlns:a16="http://schemas.microsoft.com/office/drawing/2014/main" id="{10CFD5D8-7904-DBEB-75FC-8DB47BD65D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9699" y="1330342"/>
            <a:ext cx="5216037" cy="2575005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914EE5CB-649F-2B8F-F936-453E201A7B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7074" y="3905347"/>
            <a:ext cx="5261288" cy="2597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57900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8D1D83-9E95-F32B-44A7-3640583FA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717E6C2-48C6-5D10-F563-1550CCD36D82}"/>
              </a:ext>
            </a:extLst>
          </p:cNvPr>
          <p:cNvSpPr/>
          <p:nvPr/>
        </p:nvSpPr>
        <p:spPr>
          <a:xfrm>
            <a:off x="640080" y="5486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AU" sz="3200" b="1" noProof="0" dirty="0">
                <a:solidFill>
                  <a:srgbClr val="F2EDE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Combining the Two</a:t>
            </a:r>
          </a:p>
          <a:p>
            <a:pPr marL="0" indent="0">
              <a:buNone/>
            </a:pPr>
            <a:r>
              <a:rPr lang="en-AU" sz="1600" dirty="0">
                <a:solidFill>
                  <a:srgbClr val="C49A45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Can we solve for z via matrix inversion?</a:t>
            </a:r>
            <a:endParaRPr lang="en-AU" sz="1600" noProof="0" dirty="0">
              <a:solidFill>
                <a:srgbClr val="C49A45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 1">
                <a:extLst>
                  <a:ext uri="{FF2B5EF4-FFF2-40B4-BE49-F238E27FC236}">
                    <a16:creationId xmlns:a16="http://schemas.microsoft.com/office/drawing/2014/main" id="{2E483B11-FBDA-8C3B-6647-8DFD32544AFA}"/>
                  </a:ext>
                </a:extLst>
              </p:cNvPr>
              <p:cNvSpPr/>
              <p:nvPr/>
            </p:nvSpPr>
            <p:spPr>
              <a:xfrm>
                <a:off x="640080" y="1737360"/>
                <a:ext cx="10881360" cy="4114800"/>
              </a:xfrm>
              <a:prstGeom prst="rect">
                <a:avLst/>
              </a:prstGeom>
              <a:noFill/>
              <a:ln/>
            </p:spPr>
            <p:txBody>
              <a:bodyPr wrap="square" rtlCol="0" anchor="t"/>
              <a:lstStyle/>
              <a:p>
                <a:pPr>
                  <a:spcAft>
                    <a:spcPts val="1200"/>
                  </a:spcAft>
                  <a:buSzPct val="100000"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AU" sz="2000" i="1">
                              <a:solidFill>
                                <a:srgbClr val="F2EDE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000" i="1">
                              <a:solidFill>
                                <a:srgbClr val="F2EDE4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AU" sz="2000" i="1">
                              <a:solidFill>
                                <a:srgbClr val="F2EDE4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sub>
                      </m:sSub>
                      <m:d>
                        <m:dPr>
                          <m:ctrlPr>
                            <a:rPr lang="en-AU" sz="2000" i="1">
                              <a:solidFill>
                                <a:srgbClr val="F2EDE4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AU" sz="2000" i="1">
                                  <a:solidFill>
                                    <a:srgbClr val="F2EDE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sz="2000" i="1">
                                  <a:solidFill>
                                    <a:srgbClr val="F2EDE4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AU" sz="2000" i="1">
                                  <a:solidFill>
                                    <a:srgbClr val="F2EDE4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AU" sz="2000" i="1">
                                  <a:solidFill>
                                    <a:srgbClr val="F2EDE4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sSub>
                                <m:sSubPr>
                                  <m:ctrlPr>
                                    <a:rPr lang="en-AU" sz="2000" i="1">
                                      <a:solidFill>
                                        <a:srgbClr val="F2EDE4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AU" sz="2000" i="1">
                                      <a:solidFill>
                                        <a:srgbClr val="F2EDE4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AU" sz="2000" i="1">
                                      <a:solidFill>
                                        <a:srgbClr val="F2EDE4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</m:sup>
                          </m:sSup>
                        </m:e>
                      </m:d>
                      <m:r>
                        <a:rPr lang="en-AU" sz="2000" i="1">
                          <a:solidFill>
                            <a:srgbClr val="F2EDE4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AU" sz="2000" i="1">
                              <a:solidFill>
                                <a:srgbClr val="F2EDE4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AU" sz="2000" i="1">
                              <a:solidFill>
                                <a:srgbClr val="F2EDE4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AU" sz="2000" i="1">
                              <a:solidFill>
                                <a:srgbClr val="F2EDE4"/>
                              </a:solidFill>
                              <a:latin typeface="Cambria Math" panose="02040503050406030204" pitchFamily="18" charset="0"/>
                            </a:rPr>
                            <m:t>=−</m:t>
                          </m:r>
                          <m:sSub>
                            <m:sSubPr>
                              <m:ctrlPr>
                                <a:rPr lang="en-AU" sz="2000" i="1">
                                  <a:solidFill>
                                    <a:srgbClr val="F2EDE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000" i="1">
                                  <a:solidFill>
                                    <a:srgbClr val="F2EDE4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AU" sz="2000" i="1">
                                  <a:solidFill>
                                    <a:srgbClr val="F2EDE4"/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en-AU" sz="2000" i="1">
                                  <a:solidFill>
                                    <a:srgbClr val="F2EDE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000" i="1">
                                  <a:solidFill>
                                    <a:srgbClr val="F2EDE4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AU" sz="2000" i="1">
                                  <a:solidFill>
                                    <a:srgbClr val="F2EDE4"/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sub>
                          </m:sSub>
                        </m:sup>
                        <m:e>
                          <m:r>
                            <a:rPr lang="en-AU" sz="2000" i="1">
                              <a:solidFill>
                                <a:srgbClr val="F2EDE4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d>
                            <m:dPr>
                              <m:ctrlPr>
                                <a:rPr lang="en-AU" sz="2000" i="1">
                                  <a:solidFill>
                                    <a:srgbClr val="F2EDE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AU" sz="2000" i="1">
                                  <a:solidFill>
                                    <a:srgbClr val="F2EDE4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sSub>
                                <m:sSubPr>
                                  <m:ctrlPr>
                                    <a:rPr lang="en-AU" sz="2000" i="1">
                                      <a:solidFill>
                                        <a:srgbClr val="F2EDE4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AU" sz="2000" i="1">
                                      <a:solidFill>
                                        <a:srgbClr val="F2EDE4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AU" sz="2000" i="1">
                                      <a:solidFill>
                                        <a:srgbClr val="F2EDE4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en-AU" sz="2000" i="1">
                          <a:solidFill>
                            <a:srgbClr val="F2EDE4"/>
                          </a:solidFill>
                          <a:latin typeface="Cambria Math" panose="02040503050406030204" pitchFamily="18" charset="0"/>
                        </a:rPr>
                        <m:t> </m:t>
                      </m:r>
                      <m:sSup>
                        <m:sSupPr>
                          <m:ctrlPr>
                            <a:rPr lang="en-AU" sz="2000" i="1">
                              <a:solidFill>
                                <a:srgbClr val="F2EDE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000" i="1">
                              <a:solidFill>
                                <a:srgbClr val="F2EDE4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AU" sz="2000" i="1">
                              <a:solidFill>
                                <a:srgbClr val="F2EDE4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AU" sz="2000" i="1">
                              <a:solidFill>
                                <a:srgbClr val="F2EDE4"/>
                              </a:solidFill>
                              <a:latin typeface="Cambria Math" panose="02040503050406030204" pitchFamily="18" charset="0"/>
                            </a:rPr>
                            <m:t>𝑗𝑛</m:t>
                          </m:r>
                          <m:sSub>
                            <m:sSubPr>
                              <m:ctrlPr>
                                <a:rPr lang="en-AU" sz="2000" i="1">
                                  <a:solidFill>
                                    <a:srgbClr val="F2EDE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000" i="1">
                                  <a:solidFill>
                                    <a:srgbClr val="F2EDE4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AU" sz="2000" i="1">
                                  <a:solidFill>
                                    <a:srgbClr val="F2EDE4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  <m:r>
                            <a:rPr lang="en-AU" sz="2000" i="1">
                              <a:solidFill>
                                <a:srgbClr val="F2EDE4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sup>
                      </m:sSup>
                      <m:r>
                        <a:rPr lang="en-AU" sz="2000" i="1">
                          <a:solidFill>
                            <a:srgbClr val="F2EDE4"/>
                          </a:solidFill>
                          <a:latin typeface="Cambria Math" panose="02040503050406030204" pitchFamily="18" charset="0"/>
                        </a:rPr>
                        <m:t>, </m:t>
                      </m:r>
                      <m:sSub>
                        <m:sSubPr>
                          <m:ctrlPr>
                            <a:rPr lang="en-AU" sz="2000" i="1">
                              <a:solidFill>
                                <a:srgbClr val="F2EDE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000" i="1">
                              <a:solidFill>
                                <a:srgbClr val="F2EDE4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AU" sz="2000" i="1">
                              <a:solidFill>
                                <a:srgbClr val="F2EDE4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AU" sz="2000" i="1">
                          <a:solidFill>
                            <a:srgbClr val="F2EDE4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d>
                        <m:dPr>
                          <m:begChr m:val="|"/>
                          <m:endChr m:val="|"/>
                          <m:ctrlPr>
                            <a:rPr lang="en-AU" sz="2000" i="1">
                              <a:solidFill>
                                <a:srgbClr val="F2EDE4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000" i="1">
                              <a:solidFill>
                                <a:srgbClr val="F2EDE4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en-AU" sz="2000" i="1">
                          <a:solidFill>
                            <a:srgbClr val="F2EDE4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AU" sz="2000" i="1">
                              <a:solidFill>
                                <a:srgbClr val="F2EDE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000" i="1">
                              <a:solidFill>
                                <a:srgbClr val="F2EDE4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AU" sz="2000" i="1">
                              <a:solidFill>
                                <a:srgbClr val="F2EDE4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m:rPr>
                          <m:lit/>
                        </m:rPr>
                        <a:rPr lang="en-AU" sz="2000" i="1">
                          <a:solidFill>
                            <a:srgbClr val="F2EDE4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AU" sz="2000" i="1">
                          <a:solidFill>
                            <a:srgbClr val="F2EDE4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AU" sz="2000" noProof="0" dirty="0">
                  <a:solidFill>
                    <a:srgbClr val="F2EDE4"/>
                  </a:solidFill>
                </a:endParaRPr>
              </a:p>
              <a:p>
                <a:pPr>
                  <a:spcAft>
                    <a:spcPts val="1200"/>
                  </a:spcAft>
                  <a:buSzPct val="100000"/>
                </a:pPr>
                <a:r>
                  <a:rPr lang="en-AU" dirty="0">
                    <a:solidFill>
                      <a:srgbClr val="F2EDE4"/>
                    </a:solidFill>
                  </a:rPr>
                  <a:t>Sampling</a:t>
                </a:r>
                <a14:m>
                  <m:oMath xmlns:m="http://schemas.openxmlformats.org/officeDocument/2006/math">
                    <m:r>
                      <a:rPr lang="en-AU" b="0" i="0" smtClean="0">
                        <a:solidFill>
                          <a:srgbClr val="F2EDE4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i="1" smtClean="0">
                        <a:solidFill>
                          <a:srgbClr val="F2EDE4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AU" i="1" smtClean="0">
                        <a:solidFill>
                          <a:srgbClr val="F2EDE4"/>
                        </a:solidFill>
                        <a:latin typeface="Cambria Math" panose="02040503050406030204" pitchFamily="18" charset="0"/>
                      </a:rPr>
                      <m:t>=2</m:t>
                    </m:r>
                    <m:sSub>
                      <m:sSubPr>
                        <m:ctrlPr>
                          <a:rPr lang="en-AU" i="1">
                            <a:solidFill>
                              <a:srgbClr val="F2EDE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i="1">
                            <a:solidFill>
                              <a:srgbClr val="F2EDE4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AU" i="1">
                            <a:solidFill>
                              <a:srgbClr val="F2EDE4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sub>
                    </m:sSub>
                    <m:r>
                      <a:rPr lang="en-AU" i="1">
                        <a:solidFill>
                          <a:srgbClr val="F2EDE4"/>
                        </a:solidFill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AU" dirty="0">
                    <a:solidFill>
                      <a:srgbClr val="F2EDE4"/>
                    </a:solidFill>
                  </a:rPr>
                  <a:t> frequencies in the bandgap gives the linear system:</a:t>
                </a:r>
              </a:p>
              <a:p>
                <a:pPr>
                  <a:spcAft>
                    <a:spcPts val="1200"/>
                  </a:spcAft>
                  <a:buSzPct val="100000"/>
                </a:pPr>
                <a:endParaRPr lang="en-AU" dirty="0">
                  <a:solidFill>
                    <a:srgbClr val="F2EDE4"/>
                  </a:solidFill>
                </a:endParaRPr>
              </a:p>
              <a:p>
                <a:pPr>
                  <a:spcAft>
                    <a:spcPts val="1200"/>
                  </a:spcAft>
                  <a:buSzPct val="100000"/>
                </a:pPr>
                <a14:m>
                  <m:oMathPara xmlns:m="http://schemas.openxmlformats.org/officeDocument/2006/math">
                    <m:oMath>
                      <m:limLow>
                        <m:limLowPr>
                          <m:ctrlPr>
                            <a:rPr lang="en-AU" sz="2000" i="1">
                              <a:solidFill>
                                <a:srgbClr val="F2EDE4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pos m:val="bot"/>
                              <m:vertJc m:val="top"/>
                              <m:ctrlPr>
                                <a:rPr lang="en-AU" sz="2000" i="1">
                                  <a:solidFill>
                                    <a:srgbClr val="F2EDE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sSub>
                                <m:sSubPr>
                                  <m:ctrlPr>
                                    <a:rPr lang="en-AU" sz="2000" i="1">
                                      <a:solidFill>
                                        <a:srgbClr val="F2EDE4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AU" sz="2000" i="1">
                                          <a:solidFill>
                                            <a:srgbClr val="F2EDE4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AU" sz="2000" i="1">
                                              <a:solidFill>
                                                <a:srgbClr val="F2EDE4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AU" sz="2000" i="1">
                                              <a:solidFill>
                                                <a:srgbClr val="F2EDE4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𝑒</m:t>
                                          </m:r>
                                        </m:e>
                                        <m:sup>
                                          <m:r>
                                            <a:rPr lang="en-AU" sz="2000" i="1">
                                              <a:solidFill>
                                                <a:srgbClr val="F2EDE4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AU" sz="2000" i="1">
                                              <a:solidFill>
                                                <a:srgbClr val="F2EDE4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𝑗𝑛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AU" sz="2000" i="1">
                                                  <a:solidFill>
                                                    <a:srgbClr val="F2EDE4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AU" sz="2000" i="1">
                                                  <a:solidFill>
                                                    <a:srgbClr val="F2EDE4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𝑇</m:t>
                                              </m:r>
                                            </m:e>
                                            <m:sub>
                                              <m:r>
                                                <a:rPr lang="en-AU" sz="2000" i="1">
                                                  <a:solidFill>
                                                    <a:srgbClr val="F2EDE4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𝑠</m:t>
                                              </m:r>
                                            </m:sub>
                                          </m:sSub>
                                          <m:sSub>
                                            <m:sSubPr>
                                              <m:ctrlPr>
                                                <a:rPr lang="en-AU" sz="2000" i="1">
                                                  <a:solidFill>
                                                    <a:srgbClr val="F2EDE4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AU" sz="2000" i="1">
                                                  <a:solidFill>
                                                    <a:srgbClr val="F2EDE4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𝜔</m:t>
                                              </m:r>
                                            </m:e>
                                            <m:sub>
                                              <m:r>
                                                <a:rPr lang="en-AU" sz="2000" i="1">
                                                  <a:solidFill>
                                                    <a:srgbClr val="F2EDE4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𝑘</m:t>
                                              </m:r>
                                            </m:sub>
                                          </m:sSub>
                                        </m:sup>
                                      </m:sSup>
                                    </m:e>
                                  </m:d>
                                </m:e>
                                <m:sub>
                                  <m:f>
                                    <m:fPr>
                                      <m:type m:val="noBar"/>
                                      <m:ctrlPr>
                                        <a:rPr lang="en-AU" sz="2000" i="1">
                                          <a:solidFill>
                                            <a:srgbClr val="F2EDE4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AU" sz="2000" i="1">
                                          <a:solidFill>
                                            <a:srgbClr val="F2EDE4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AU" sz="2000" i="1">
                                          <a:solidFill>
                                            <a:srgbClr val="F2EDE4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=1,…,</m:t>
                                      </m:r>
                                      <m:r>
                                        <a:rPr lang="en-AU" sz="2000" i="1">
                                          <a:solidFill>
                                            <a:srgbClr val="F2EDE4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num>
                                    <m:den>
                                      <m:r>
                                        <a:rPr lang="en-AU" sz="2000" i="1">
                                          <a:solidFill>
                                            <a:srgbClr val="F2EDE4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en-AU" sz="2000" i="1">
                                          <a:solidFill>
                                            <a:srgbClr val="F2EDE4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=−</m:t>
                                      </m:r>
                                      <m:sSub>
                                        <m:sSubPr>
                                          <m:ctrlPr>
                                            <a:rPr lang="en-AU" sz="2000" i="1">
                                              <a:solidFill>
                                                <a:srgbClr val="F2EDE4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AU" sz="2000" i="1">
                                              <a:solidFill>
                                                <a:srgbClr val="F2EDE4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𝑁</m:t>
                                          </m:r>
                                        </m:e>
                                        <m:sub>
                                          <m:r>
                                            <a:rPr lang="en-AU" sz="2000" i="1">
                                              <a:solidFill>
                                                <a:srgbClr val="F2EDE4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𝜆</m:t>
                                          </m:r>
                                        </m:sub>
                                      </m:sSub>
                                      <m:r>
                                        <a:rPr lang="en-AU" sz="2000" i="1">
                                          <a:solidFill>
                                            <a:srgbClr val="F2EDE4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,…,</m:t>
                                      </m:r>
                                      <m:sSub>
                                        <m:sSubPr>
                                          <m:ctrlPr>
                                            <a:rPr lang="en-AU" sz="2000" i="1">
                                              <a:solidFill>
                                                <a:srgbClr val="F2EDE4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AU" sz="2000" i="1">
                                              <a:solidFill>
                                                <a:srgbClr val="F2EDE4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𝑁</m:t>
                                          </m:r>
                                        </m:e>
                                        <m:sub>
                                          <m:r>
                                            <a:rPr lang="en-AU" sz="2000" i="1">
                                              <a:solidFill>
                                                <a:srgbClr val="F2EDE4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𝜆</m:t>
                                          </m:r>
                                        </m:sub>
                                      </m:sSub>
                                    </m:den>
                                  </m:f>
                                </m:sub>
                              </m:sSub>
                            </m:e>
                          </m:groupChr>
                        </m:e>
                        <m:lim>
                          <m:r>
                            <a:rPr lang="en-AU" sz="2000" b="1" i="1">
                              <a:solidFill>
                                <a:srgbClr val="F2EDE4"/>
                              </a:solidFill>
                              <a:latin typeface="Cambria Math" panose="02040503050406030204" pitchFamily="18" charset="0"/>
                            </a:rPr>
                            <m:t>𝑽</m:t>
                          </m:r>
                        </m:lim>
                      </m:limLow>
                      <m:limLow>
                        <m:limLowPr>
                          <m:ctrlPr>
                            <a:rPr lang="en-AU" sz="2000" i="1">
                              <a:solidFill>
                                <a:srgbClr val="F2EDE4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pos m:val="bot"/>
                              <m:vertJc m:val="top"/>
                              <m:ctrlPr>
                                <a:rPr lang="en-AU" sz="2000" i="1">
                                  <a:solidFill>
                                    <a:srgbClr val="F2EDE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sSubSup>
                                <m:sSubSupPr>
                                  <m:ctrlPr>
                                    <a:rPr lang="en-AU" sz="2000" i="1">
                                      <a:solidFill>
                                        <a:srgbClr val="F2EDE4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AU" sz="2000" i="1">
                                          <a:solidFill>
                                            <a:srgbClr val="F2EDE4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AU" sz="2000" i="1">
                                          <a:solidFill>
                                            <a:srgbClr val="F2EDE4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  <m:d>
                                        <m:dPr>
                                          <m:ctrlPr>
                                            <a:rPr lang="en-AU" sz="2000" i="1">
                                              <a:solidFill>
                                                <a:srgbClr val="F2EDE4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AU" sz="2000" i="1">
                                              <a:solidFill>
                                                <a:srgbClr val="F2EDE4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AU" sz="2000" i="1">
                                                  <a:solidFill>
                                                    <a:srgbClr val="F2EDE4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AU" sz="2000" i="1">
                                                  <a:solidFill>
                                                    <a:srgbClr val="F2EDE4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𝑇</m:t>
                                              </m:r>
                                            </m:e>
                                            <m:sub>
                                              <m:r>
                                                <a:rPr lang="en-AU" sz="2000" i="1">
                                                  <a:solidFill>
                                                    <a:srgbClr val="F2EDE4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𝑠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d>
                                </m:e>
                                <m:sub>
                                  <m:r>
                                    <a:rPr lang="en-AU" sz="2000" i="1">
                                      <a:solidFill>
                                        <a:srgbClr val="F2EDE4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AU" sz="2000" i="1">
                                      <a:solidFill>
                                        <a:srgbClr val="F2EDE4"/>
                                      </a:solidFill>
                                      <a:latin typeface="Cambria Math" panose="02040503050406030204" pitchFamily="18" charset="0"/>
                                    </a:rPr>
                                    <m:t>=−</m:t>
                                  </m:r>
                                  <m:sSub>
                                    <m:sSubPr>
                                      <m:ctrlPr>
                                        <a:rPr lang="en-AU" sz="2000" i="1">
                                          <a:solidFill>
                                            <a:srgbClr val="F2EDE4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AU" sz="2000" i="1">
                                          <a:solidFill>
                                            <a:srgbClr val="F2EDE4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</m:e>
                                    <m:sub>
                                      <m:r>
                                        <a:rPr lang="en-AU" sz="2000" i="1">
                                          <a:solidFill>
                                            <a:srgbClr val="F2EDE4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𝜆</m:t>
                                      </m:r>
                                    </m:sub>
                                  </m:sSub>
                                </m:sub>
                                <m:sup>
                                  <m:sSub>
                                    <m:sSubPr>
                                      <m:ctrlPr>
                                        <a:rPr lang="en-AU" sz="2000" i="1">
                                          <a:solidFill>
                                            <a:srgbClr val="F2EDE4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AU" sz="2000" i="1">
                                          <a:solidFill>
                                            <a:srgbClr val="F2EDE4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</m:e>
                                    <m:sub>
                                      <m:r>
                                        <a:rPr lang="en-AU" sz="2000" i="1">
                                          <a:solidFill>
                                            <a:srgbClr val="F2EDE4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𝜆</m:t>
                                      </m:r>
                                    </m:sub>
                                  </m:sSub>
                                </m:sup>
                              </m:sSubSup>
                            </m:e>
                          </m:groupChr>
                        </m:e>
                        <m:lim>
                          <m:r>
                            <a:rPr lang="en-AU" sz="2000" b="1" i="1">
                              <a:solidFill>
                                <a:srgbClr val="F2EDE4"/>
                              </a:solidFill>
                              <a:latin typeface="Cambria Math" panose="02040503050406030204" pitchFamily="18" charset="0"/>
                            </a:rPr>
                            <m:t>𝒛</m:t>
                          </m:r>
                        </m:lim>
                      </m:limLow>
                      <m:r>
                        <a:rPr lang="en-AU" sz="2000" i="1">
                          <a:solidFill>
                            <a:srgbClr val="F2EDE4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en-AU" sz="2000" i="1">
                              <a:solidFill>
                                <a:srgbClr val="F2EDE4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pos m:val="bot"/>
                              <m:vertJc m:val="top"/>
                              <m:ctrlPr>
                                <a:rPr lang="en-AU" sz="2000" i="1">
                                  <a:solidFill>
                                    <a:srgbClr val="F2EDE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sSubSup>
                                <m:sSubSupPr>
                                  <m:ctrlPr>
                                    <a:rPr lang="en-AU" sz="2000" i="1">
                                      <a:solidFill>
                                        <a:srgbClr val="F2EDE4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AU" sz="2000" i="1">
                                          <a:solidFill>
                                            <a:srgbClr val="F2EDE4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AU" sz="2000" i="1">
                                              <a:solidFill>
                                                <a:srgbClr val="F2EDE4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AU" sz="2000" i="1">
                                              <a:solidFill>
                                                <a:srgbClr val="F2EDE4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𝐹</m:t>
                                          </m:r>
                                        </m:e>
                                        <m:sub>
                                          <m:r>
                                            <a:rPr lang="en-AU" sz="2000" i="1">
                                              <a:solidFill>
                                                <a:srgbClr val="F2EDE4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𝜆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AU" sz="2000" i="1">
                                              <a:solidFill>
                                                <a:srgbClr val="F2EDE4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lang="en-AU" sz="2000" i="1">
                                                  <a:solidFill>
                                                    <a:srgbClr val="F2EDE4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AU" sz="2000" i="1">
                                                  <a:solidFill>
                                                    <a:srgbClr val="F2EDE4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𝑒</m:t>
                                              </m:r>
                                            </m:e>
                                            <m:sup>
                                              <m:r>
                                                <a:rPr lang="en-AU" sz="2000" i="1">
                                                  <a:solidFill>
                                                    <a:srgbClr val="F2EDE4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AU" sz="2000" i="1">
                                                      <a:solidFill>
                                                        <a:srgbClr val="F2EDE4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AU" sz="2000" i="1">
                                                      <a:solidFill>
                                                        <a:srgbClr val="F2EDE4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𝜔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AU" sz="2000" i="1">
                                                      <a:solidFill>
                                                        <a:srgbClr val="F2EDE4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𝑘</m:t>
                                                  </m:r>
                                                </m:sub>
                                              </m:sSub>
                                              <m:sSub>
                                                <m:sSubPr>
                                                  <m:ctrlPr>
                                                    <a:rPr lang="en-AU" sz="2000" i="1">
                                                      <a:solidFill>
                                                        <a:srgbClr val="F2EDE4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AU" sz="2000" i="1">
                                                      <a:solidFill>
                                                        <a:srgbClr val="F2EDE4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𝑇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AU" sz="2000" i="1">
                                                      <a:solidFill>
                                                        <a:srgbClr val="F2EDE4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𝑠</m:t>
                                                  </m:r>
                                                </m:sub>
                                              </m:sSub>
                                            </m:sup>
                                          </m:sSup>
                                        </m:e>
                                      </m:d>
                                    </m:e>
                                  </m:d>
                                </m:e>
                                <m:sub>
                                  <m:r>
                                    <a:rPr lang="en-AU" sz="2000" i="1">
                                      <a:solidFill>
                                        <a:srgbClr val="F2EDE4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AU" sz="2000" i="1">
                                      <a:solidFill>
                                        <a:srgbClr val="F2EDE4"/>
                                      </a:solidFill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AU" sz="2000" i="1">
                                      <a:solidFill>
                                        <a:srgbClr val="F2EDE4"/>
                                      </a:solidFill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sup>
                              </m:sSubSup>
                            </m:e>
                          </m:groupChr>
                        </m:e>
                        <m:lim>
                          <m:r>
                            <a:rPr lang="en-AU" sz="2000" i="1">
                              <a:solidFill>
                                <a:srgbClr val="F2EDE4"/>
                              </a:solidFill>
                              <a:latin typeface="Cambria Math" panose="02040503050406030204" pitchFamily="18" charset="0"/>
                            </a:rPr>
                            <m:t>𝐛</m:t>
                          </m:r>
                        </m:lim>
                      </m:limLow>
                    </m:oMath>
                  </m:oMathPara>
                </a14:m>
                <a:endParaRPr lang="en-AU" sz="2000" dirty="0">
                  <a:solidFill>
                    <a:srgbClr val="F2EDE4"/>
                  </a:solidFill>
                </a:endParaRPr>
              </a:p>
              <a:p>
                <a:pPr>
                  <a:spcAft>
                    <a:spcPts val="1200"/>
                  </a:spcAft>
                  <a:buSzPct val="100000"/>
                </a:pPr>
                <a:endParaRPr lang="en-AU" dirty="0">
                  <a:solidFill>
                    <a:srgbClr val="F2EDE4"/>
                  </a:solidFill>
                </a:endParaRPr>
              </a:p>
              <a:p>
                <a:pPr>
                  <a:spcAft>
                    <a:spcPts val="1200"/>
                  </a:spcAft>
                  <a:buSzPct val="100000"/>
                </a:pPr>
                <a:r>
                  <a:rPr lang="en-AU" dirty="0">
                    <a:solidFill>
                      <a:srgbClr val="F2EDE4"/>
                    </a:solidFill>
                  </a:rPr>
                  <a:t>Solving for the residuals is a matter of inverting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AU" b="0" i="1" smtClean="0">
                        <a:solidFill>
                          <a:srgbClr val="F2EDE4"/>
                        </a:solidFill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r>
                  <a:rPr lang="en-AU" dirty="0">
                    <a:solidFill>
                      <a:srgbClr val="F2EDE4"/>
                    </a:solidFill>
                  </a:rPr>
                  <a:t>:</a:t>
                </a:r>
                <a:endParaRPr lang="en-AU" i="1" dirty="0">
                  <a:solidFill>
                    <a:srgbClr val="F2EDE4"/>
                  </a:solidFill>
                  <a:latin typeface="Cambria Math" panose="02040503050406030204" pitchFamily="18" charset="0"/>
                </a:endParaRPr>
              </a:p>
              <a:p>
                <a:pPr>
                  <a:spcAft>
                    <a:spcPts val="1200"/>
                  </a:spcAft>
                  <a:buSzPct val="100000"/>
                </a:pPr>
                <a14:m>
                  <m:oMathPara xmlns:m="http://schemas.openxmlformats.org/officeDocument/2006/math">
                    <m:oMath>
                      <m:r>
                        <a:rPr lang="en-AU" sz="2000" b="1" i="1" smtClean="0">
                          <a:solidFill>
                            <a:srgbClr val="F2EDE4"/>
                          </a:solidFill>
                          <a:latin typeface="Cambria Math" panose="02040503050406030204" pitchFamily="18" charset="0"/>
                        </a:rPr>
                        <m:t>𝑽𝒛</m:t>
                      </m:r>
                      <m:r>
                        <a:rPr lang="en-AU" sz="2000" b="1" i="1" smtClean="0">
                          <a:solidFill>
                            <a:srgbClr val="F2EDE4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000" b="1" i="1" smtClean="0">
                          <a:solidFill>
                            <a:srgbClr val="F2EDE4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AU" sz="2000" b="1" i="1" smtClean="0">
                          <a:solidFill>
                            <a:srgbClr val="F2EDE4"/>
                          </a:solidFill>
                          <a:latin typeface="Cambria Math" panose="02040503050406030204" pitchFamily="18" charset="0"/>
                        </a:rPr>
                        <m:t> ⇒ </m:t>
                      </m:r>
                      <m:r>
                        <a:rPr lang="en-AU" sz="2000" b="1" i="1" smtClean="0">
                          <a:solidFill>
                            <a:srgbClr val="F2EDE4"/>
                          </a:solidFill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en-AU" sz="2000" b="1" i="1" smtClean="0">
                          <a:solidFill>
                            <a:srgbClr val="F2EDE4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sz="2000" b="1" i="1">
                              <a:solidFill>
                                <a:srgbClr val="F2EDE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000" b="1" i="1">
                              <a:solidFill>
                                <a:srgbClr val="F2EDE4"/>
                              </a:solidFill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p>
                          <m:r>
                            <a:rPr lang="en-AU" sz="2000" b="1" i="1">
                              <a:solidFill>
                                <a:srgbClr val="F2EDE4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AU" sz="2000" b="1" i="1">
                              <a:solidFill>
                                <a:srgbClr val="F2EDE4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r>
                        <a:rPr lang="en-AU" sz="2000" b="1" i="1">
                          <a:solidFill>
                            <a:srgbClr val="F2EDE4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en-AU" sz="2000" b="1" dirty="0">
                  <a:solidFill>
                    <a:srgbClr val="F2EDE4"/>
                  </a:solidFill>
                </a:endParaRPr>
              </a:p>
              <a:p>
                <a:pPr>
                  <a:spcAft>
                    <a:spcPts val="1200"/>
                  </a:spcAft>
                  <a:buSzPct val="100000"/>
                </a:pPr>
                <a:endParaRPr lang="en-AU" dirty="0">
                  <a:solidFill>
                    <a:srgbClr val="F2EDE4"/>
                  </a:solidFill>
                </a:endParaRPr>
              </a:p>
            </p:txBody>
          </p:sp>
        </mc:Choice>
        <mc:Fallback xmlns="">
          <p:sp>
            <p:nvSpPr>
              <p:cNvPr id="16" name="Text 1">
                <a:extLst>
                  <a:ext uri="{FF2B5EF4-FFF2-40B4-BE49-F238E27FC236}">
                    <a16:creationId xmlns:a16="http://schemas.microsoft.com/office/drawing/2014/main" id="{2E483B11-FBDA-8C3B-6647-8DFD32544AF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" y="1737360"/>
                <a:ext cx="10881360" cy="4114800"/>
              </a:xfrm>
              <a:prstGeom prst="rect">
                <a:avLst/>
              </a:prstGeom>
              <a:blipFill>
                <a:blip r:embed="rId3"/>
                <a:stretch>
                  <a:fillRect l="-448"/>
                </a:stretch>
              </a:blipFill>
              <a:ln/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791292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D3458B-5246-514E-E65D-671FD67F8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0">
                <a:extLst>
                  <a:ext uri="{FF2B5EF4-FFF2-40B4-BE49-F238E27FC236}">
                    <a16:creationId xmlns:a16="http://schemas.microsoft.com/office/drawing/2014/main" id="{B3AA9846-350C-C4FA-5F9C-E86B635E63AF}"/>
                  </a:ext>
                </a:extLst>
              </p:cNvPr>
              <p:cNvSpPr/>
              <p:nvPr/>
            </p:nvSpPr>
            <p:spPr>
              <a:xfrm>
                <a:off x="640080" y="548640"/>
                <a:ext cx="10881360" cy="8229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AU" sz="3200" b="1" noProof="0" dirty="0">
                    <a:solidFill>
                      <a:srgbClr val="F2EDE4"/>
                    </a:solidFill>
                    <a:latin typeface="Segoe UI Semibold" pitchFamily="34" charset="0"/>
                    <a:ea typeface="Segoe UI Semibold" pitchFamily="34" charset="-122"/>
                    <a:cs typeface="Segoe UI Semibold" pitchFamily="34" charset="-120"/>
                  </a:rPr>
                  <a:t>Matrix Inversion</a:t>
                </a:r>
              </a:p>
              <a:p>
                <a:pPr marL="0" indent="0">
                  <a:buNone/>
                </a:pPr>
                <a:r>
                  <a:rPr lang="en-AU" sz="1600" noProof="0" dirty="0">
                    <a:solidFill>
                      <a:srgbClr val="C49A45"/>
                    </a:solidFill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Unstable for high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1600" b="0" i="1" noProof="0" dirty="0" smtClean="0">
                            <a:solidFill>
                              <a:srgbClr val="C49A45"/>
                            </a:solidFill>
                            <a:latin typeface="Cambria Math" panose="02040503050406030204" pitchFamily="18" charset="0"/>
                            <a:cs typeface="Segoe UI Semilight" panose="020B0402040204020203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AU" sz="1600" b="0" i="1" noProof="0" dirty="0" smtClean="0">
                            <a:solidFill>
                              <a:srgbClr val="C49A45"/>
                            </a:solidFill>
                            <a:latin typeface="Cambria Math" panose="02040503050406030204" pitchFamily="18" charset="0"/>
                            <a:cs typeface="Segoe UI Semilight" panose="020B0402040204020203" pitchFamily="34" charset="0"/>
                          </a:rPr>
                          <m:t>N</m:t>
                        </m:r>
                      </m:e>
                      <m:sub>
                        <m:r>
                          <a:rPr lang="en-AU" sz="1600" i="1" noProof="0" dirty="0" smtClean="0">
                            <a:solidFill>
                              <a:srgbClr val="C49A45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 Semilight" panose="020B0402040204020203" pitchFamily="34" charset="0"/>
                          </a:rPr>
                          <m:t>𝜆</m:t>
                        </m:r>
                      </m:sub>
                    </m:sSub>
                  </m:oMath>
                </a14:m>
                <a:endParaRPr lang="en-AU" sz="1600" noProof="0" dirty="0">
                  <a:solidFill>
                    <a:srgbClr val="C49A45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</p:txBody>
          </p:sp>
        </mc:Choice>
        <mc:Fallback xmlns="">
          <p:sp>
            <p:nvSpPr>
              <p:cNvPr id="2" name="Text 0">
                <a:extLst>
                  <a:ext uri="{FF2B5EF4-FFF2-40B4-BE49-F238E27FC236}">
                    <a16:creationId xmlns:a16="http://schemas.microsoft.com/office/drawing/2014/main" id="{B3AA9846-350C-C4FA-5F9C-E86B635E63A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" y="548640"/>
                <a:ext cx="10881360" cy="822960"/>
              </a:xfrm>
              <a:prstGeom prst="rect">
                <a:avLst/>
              </a:prstGeom>
              <a:blipFill>
                <a:blip r:embed="rId3"/>
                <a:stretch>
                  <a:fillRect l="-2241" t="-9630" b="-8889"/>
                </a:stretch>
              </a:blipFill>
              <a:ln/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ABA9B472-7137-0772-C2A6-65FA99457E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046402"/>
            <a:ext cx="12192000" cy="276519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1">
                <a:extLst>
                  <a:ext uri="{FF2B5EF4-FFF2-40B4-BE49-F238E27FC236}">
                    <a16:creationId xmlns:a16="http://schemas.microsoft.com/office/drawing/2014/main" id="{DFA0FADB-DF23-D596-86E9-D1DB072CCB36}"/>
                  </a:ext>
                </a:extLst>
              </p:cNvPr>
              <p:cNvSpPr/>
              <p:nvPr/>
            </p:nvSpPr>
            <p:spPr>
              <a:xfrm>
                <a:off x="0" y="5209765"/>
                <a:ext cx="12192000" cy="4114800"/>
              </a:xfrm>
              <a:prstGeom prst="rect">
                <a:avLst/>
              </a:prstGeom>
              <a:noFill/>
              <a:ln/>
            </p:spPr>
            <p:txBody>
              <a:bodyPr wrap="square" rtlCol="0" anchor="t"/>
              <a:lstStyle/>
              <a:p>
                <a:pPr algn="ctr">
                  <a:spcAft>
                    <a:spcPts val="1200"/>
                  </a:spcAft>
                  <a:buSzPct val="100000"/>
                </a:pPr>
                <a:r>
                  <a:rPr lang="en-AU" sz="2400" noProof="0" dirty="0">
                    <a:solidFill>
                      <a:srgbClr val="F2EDE4"/>
                    </a:solidFill>
                  </a:rPr>
                  <a:t>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400" i="1" noProof="0">
                            <a:solidFill>
                              <a:srgbClr val="F2EDE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i="1" noProof="0">
                            <a:solidFill>
                              <a:srgbClr val="F2EDE4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AU" sz="2400" i="1" noProof="0">
                            <a:solidFill>
                              <a:srgbClr val="F2EDE4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sub>
                    </m:sSub>
                  </m:oMath>
                </a14:m>
                <a:r>
                  <a:rPr lang="en-AU" sz="2400" noProof="0" dirty="0">
                    <a:solidFill>
                      <a:srgbClr val="F2EDE4"/>
                    </a:solidFill>
                  </a:rPr>
                  <a:t> grows, </a:t>
                </a:r>
                <a14:m>
                  <m:oMath xmlns:m="http://schemas.openxmlformats.org/officeDocument/2006/math">
                    <m:r>
                      <a:rPr lang="en-AU" sz="2400" b="1" i="1">
                        <a:solidFill>
                          <a:srgbClr val="F2EDE4"/>
                        </a:solidFill>
                        <a:latin typeface="Cambria Math" panose="02040503050406030204" pitchFamily="18" charset="0"/>
                      </a:rPr>
                      <m:t>𝑽</m:t>
                    </m:r>
                  </m:oMath>
                </a14:m>
                <a:r>
                  <a:rPr lang="en-AU" sz="2400" noProof="0" dirty="0">
                    <a:solidFill>
                      <a:srgbClr val="F2EDE4"/>
                    </a:solidFill>
                  </a:rPr>
                  <a:t> becomes ill-conditioned</a:t>
                </a:r>
              </a:p>
            </p:txBody>
          </p:sp>
        </mc:Choice>
        <mc:Fallback xmlns="">
          <p:sp>
            <p:nvSpPr>
              <p:cNvPr id="5" name="Text 1">
                <a:extLst>
                  <a:ext uri="{FF2B5EF4-FFF2-40B4-BE49-F238E27FC236}">
                    <a16:creationId xmlns:a16="http://schemas.microsoft.com/office/drawing/2014/main" id="{DFA0FADB-DF23-D596-86E9-D1DB072CCB3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5209765"/>
                <a:ext cx="12192000" cy="4114800"/>
              </a:xfrm>
              <a:prstGeom prst="rect">
                <a:avLst/>
              </a:prstGeom>
              <a:blipFill>
                <a:blip r:embed="rId5"/>
                <a:stretch>
                  <a:fillRect t="-1185"/>
                </a:stretch>
              </a:blipFill>
              <a:ln/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67437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60E8BC-526A-D5F6-FDAB-28E8627BD4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35024CB-7915-9529-2D93-1EE38EDC4B73}"/>
              </a:ext>
            </a:extLst>
          </p:cNvPr>
          <p:cNvSpPr/>
          <p:nvPr/>
        </p:nvSpPr>
        <p:spPr>
          <a:xfrm>
            <a:off x="640080" y="5486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AU" sz="3200" b="1" noProof="0" dirty="0">
                <a:solidFill>
                  <a:srgbClr val="F2EDE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</a:t>
            </a:r>
            <a:r>
              <a:rPr lang="en-AU" sz="3200" b="1" baseline="30000" noProof="0" dirty="0">
                <a:solidFill>
                  <a:srgbClr val="F2EDE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r>
              <a:rPr lang="en-AU" sz="3200" b="1" noProof="0" dirty="0">
                <a:solidFill>
                  <a:srgbClr val="F2EDE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</a:t>
            </a:r>
            <a:r>
              <a:rPr lang="en-AU" sz="3200" b="1" baseline="30000" noProof="0" dirty="0">
                <a:solidFill>
                  <a:srgbClr val="F2EDE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r>
              <a:rPr lang="en-AU" sz="3200" b="1" noProof="0" dirty="0">
                <a:solidFill>
                  <a:srgbClr val="F2EDE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Algorithm – Inner Loop</a:t>
            </a:r>
          </a:p>
          <a:p>
            <a:pPr marL="0" indent="0">
              <a:buNone/>
            </a:pPr>
            <a:r>
              <a:rPr lang="en-AU" sz="1600" noProof="0" dirty="0">
                <a:solidFill>
                  <a:srgbClr val="C49A45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Beyond Bandwidth Residual Reconstruction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 1">
                <a:extLst>
                  <a:ext uri="{FF2B5EF4-FFF2-40B4-BE49-F238E27FC236}">
                    <a16:creationId xmlns:a16="http://schemas.microsoft.com/office/drawing/2014/main" id="{12D70CF8-A5E9-E330-9714-2EB3A871657C}"/>
                  </a:ext>
                </a:extLst>
              </p:cNvPr>
              <p:cNvSpPr/>
              <p:nvPr/>
            </p:nvSpPr>
            <p:spPr>
              <a:xfrm>
                <a:off x="640080" y="1737360"/>
                <a:ext cx="4960620" cy="4114800"/>
              </a:xfrm>
              <a:prstGeom prst="rect">
                <a:avLst/>
              </a:prstGeom>
              <a:noFill/>
              <a:ln/>
            </p:spPr>
            <p:txBody>
              <a:bodyPr wrap="square" rtlCol="0" anchor="t"/>
              <a:lstStyle/>
              <a:p>
                <a:pPr>
                  <a:spcAft>
                    <a:spcPts val="1200"/>
                  </a:spcAft>
                  <a:buSzPct val="100000"/>
                </a:pPr>
                <a:r>
                  <a:rPr lang="en-AU" noProof="0" dirty="0">
                    <a:solidFill>
                      <a:srgbClr val="F2EDE4"/>
                    </a:solidFill>
                  </a:rPr>
                  <a:t>Over the band-gap:</a:t>
                </a:r>
              </a:p>
              <a:p>
                <a:pPr>
                  <a:spcAft>
                    <a:spcPts val="1200"/>
                  </a:spcAft>
                  <a:buSzPct val="100000"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AU" sz="2000" i="1" noProof="0" smtClean="0">
                              <a:solidFill>
                                <a:srgbClr val="F2EDE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000" i="1" noProof="0" smtClean="0">
                              <a:solidFill>
                                <a:srgbClr val="F2EDE4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AU" sz="2000" i="1" noProof="0" smtClean="0">
                              <a:solidFill>
                                <a:srgbClr val="F2EDE4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sub>
                      </m:sSub>
                      <m:d>
                        <m:dPr>
                          <m:ctrlPr>
                            <a:rPr lang="en-AU" sz="2000" i="1" noProof="0" smtClean="0">
                              <a:solidFill>
                                <a:srgbClr val="F2EDE4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AU" sz="2000" i="1" noProof="0" smtClean="0">
                                  <a:solidFill>
                                    <a:srgbClr val="F2EDE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sz="2000" i="1" noProof="0" smtClean="0">
                                  <a:solidFill>
                                    <a:srgbClr val="F2EDE4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AU" sz="2000" i="1" noProof="0" smtClean="0">
                                  <a:solidFill>
                                    <a:srgbClr val="F2EDE4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AU" sz="2000" i="1" noProof="0" smtClean="0">
                                  <a:solidFill>
                                    <a:srgbClr val="F2EDE4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sSub>
                                <m:sSubPr>
                                  <m:ctrlPr>
                                    <a:rPr lang="en-AU" sz="2000" i="1" noProof="0" smtClean="0">
                                      <a:solidFill>
                                        <a:srgbClr val="F2EDE4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AU" sz="2000" i="1" noProof="0" smtClean="0">
                                      <a:solidFill>
                                        <a:srgbClr val="F2EDE4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AU" sz="2000" i="1" noProof="0" smtClean="0">
                                      <a:solidFill>
                                        <a:srgbClr val="F2EDE4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</m:sup>
                          </m:sSup>
                        </m:e>
                      </m:d>
                      <m:r>
                        <a:rPr lang="en-AU" sz="2000" i="1" noProof="0" smtClean="0">
                          <a:solidFill>
                            <a:srgbClr val="F2EDE4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000" i="1" noProof="0" smtClean="0">
                          <a:solidFill>
                            <a:srgbClr val="F2EDE4"/>
                          </a:solidFill>
                          <a:latin typeface="Cambria Math" panose="02040503050406030204" pitchFamily="18" charset="0"/>
                        </a:rPr>
                        <m:t>𝑍</m:t>
                      </m:r>
                      <m:d>
                        <m:dPr>
                          <m:ctrlPr>
                            <a:rPr lang="en-AU" sz="2000" i="1" noProof="0" smtClean="0">
                              <a:solidFill>
                                <a:srgbClr val="F2EDE4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AU" sz="2000" i="1" noProof="0" smtClean="0">
                                  <a:solidFill>
                                    <a:srgbClr val="F2EDE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sz="2000" i="1" noProof="0" smtClean="0">
                                  <a:solidFill>
                                    <a:srgbClr val="F2EDE4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AU" sz="2000" i="1" noProof="0" smtClean="0">
                                  <a:solidFill>
                                    <a:srgbClr val="F2EDE4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AU" sz="2000" i="1" noProof="0" smtClean="0">
                                  <a:solidFill>
                                    <a:srgbClr val="F2EDE4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sSub>
                                <m:sSubPr>
                                  <m:ctrlPr>
                                    <a:rPr lang="en-AU" sz="2000" i="1" noProof="0" smtClean="0">
                                      <a:solidFill>
                                        <a:srgbClr val="F2EDE4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AU" sz="2000" i="1" noProof="0" smtClean="0">
                                      <a:solidFill>
                                        <a:srgbClr val="F2EDE4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AU" sz="2000" i="1" noProof="0" smtClean="0">
                                      <a:solidFill>
                                        <a:srgbClr val="F2EDE4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</m:sup>
                          </m:sSup>
                        </m:e>
                      </m:d>
                      <m:r>
                        <a:rPr lang="en-AU" sz="2000" i="1" noProof="0" smtClean="0">
                          <a:solidFill>
                            <a:srgbClr val="F2EDE4"/>
                          </a:solidFill>
                          <a:latin typeface="Cambria Math" panose="02040503050406030204" pitchFamily="18" charset="0"/>
                        </a:rPr>
                        <m:t>, </m:t>
                      </m:r>
                      <m:sSub>
                        <m:sSubPr>
                          <m:ctrlPr>
                            <a:rPr lang="en-AU" sz="2000" i="1" noProof="0" smtClean="0">
                              <a:solidFill>
                                <a:srgbClr val="F2EDE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000" i="1" noProof="0" smtClean="0">
                              <a:solidFill>
                                <a:srgbClr val="F2EDE4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AU" sz="2000" i="1" noProof="0" smtClean="0">
                              <a:solidFill>
                                <a:srgbClr val="F2EDE4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AU" sz="2000" i="1" noProof="0" smtClean="0">
                          <a:solidFill>
                            <a:srgbClr val="F2EDE4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d>
                        <m:dPr>
                          <m:begChr m:val="|"/>
                          <m:endChr m:val="|"/>
                          <m:ctrlPr>
                            <a:rPr lang="en-AU" sz="2000" i="1" noProof="0" smtClean="0">
                              <a:solidFill>
                                <a:srgbClr val="F2EDE4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000" i="1" noProof="0" smtClean="0">
                              <a:solidFill>
                                <a:srgbClr val="F2EDE4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en-AU" sz="2000" i="1" noProof="0" smtClean="0">
                          <a:solidFill>
                            <a:srgbClr val="F2EDE4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AU" sz="2000" i="1" noProof="0" smtClean="0">
                              <a:solidFill>
                                <a:srgbClr val="F2EDE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000" i="1" noProof="0" smtClean="0">
                              <a:solidFill>
                                <a:srgbClr val="F2EDE4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AU" sz="2000" i="1" noProof="0" smtClean="0">
                              <a:solidFill>
                                <a:srgbClr val="F2EDE4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m:rPr>
                          <m:lit/>
                        </m:rPr>
                        <a:rPr lang="en-AU" sz="2000" i="1" noProof="0" smtClean="0">
                          <a:solidFill>
                            <a:srgbClr val="F2EDE4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AU" sz="2000" i="1" noProof="0" smtClean="0">
                          <a:solidFill>
                            <a:srgbClr val="F2EDE4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AU" sz="2000" noProof="0" dirty="0">
                  <a:solidFill>
                    <a:srgbClr val="F2EDE4"/>
                  </a:solidFill>
                </a:endParaRPr>
              </a:p>
              <a:p>
                <a:pPr>
                  <a:spcAft>
                    <a:spcPts val="1200"/>
                  </a:spcAft>
                  <a:buSzPct val="100000"/>
                </a:pPr>
                <a:endParaRPr lang="en-AU" sz="2000" noProof="0" dirty="0">
                  <a:solidFill>
                    <a:srgbClr val="F2EDE4"/>
                  </a:solidFill>
                </a:endParaRPr>
              </a:p>
              <a:p>
                <a:pPr>
                  <a:spcAft>
                    <a:spcPts val="1200"/>
                  </a:spcAft>
                  <a:buSzPct val="100000"/>
                </a:pPr>
                <a:r>
                  <a:rPr lang="en-AU" noProof="0" dirty="0">
                    <a:solidFill>
                      <a:srgbClr val="F2EDE4"/>
                    </a:solidFill>
                  </a:rPr>
                  <a:t>Objective:</a:t>
                </a:r>
              </a:p>
              <a:p>
                <a:pPr>
                  <a:spcAft>
                    <a:spcPts val="1200"/>
                  </a:spcAft>
                  <a:buSzPct val="100000"/>
                </a:pP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AU" sz="2000" i="1">
                              <a:solidFill>
                                <a:srgbClr val="F2EDE4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AU" sz="2000" i="0">
                                  <a:solidFill>
                                    <a:srgbClr val="F2EDE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AU" sz="2000" i="0">
                                  <a:solidFill>
                                    <a:srgbClr val="F2EDE4"/>
                                  </a:solidFill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AU" sz="2000" i="1">
                                  <a:solidFill>
                                    <a:srgbClr val="F2EDE4"/>
                                  </a:solidFill>
                                  <a:latin typeface="Cambria Math" panose="02040503050406030204" pitchFamily="18" charset="0"/>
                                </a:rPr>
                                <m:t>𝐳</m:t>
                              </m:r>
                            </m:lim>
                          </m:limLow>
                        </m:fName>
                        <m:e>
                          <m:r>
                            <a:rPr lang="en-AU" sz="2000" i="1">
                              <a:solidFill>
                                <a:srgbClr val="F2EDE4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  <m:d>
                            <m:dPr>
                              <m:ctrlPr>
                                <a:rPr lang="en-AU" sz="2000" i="1">
                                  <a:solidFill>
                                    <a:srgbClr val="F2EDE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AU" sz="2000" i="1">
                                  <a:solidFill>
                                    <a:srgbClr val="F2EDE4"/>
                                  </a:solidFill>
                                  <a:latin typeface="Cambria Math" panose="02040503050406030204" pitchFamily="18" charset="0"/>
                                </a:rPr>
                                <m:t>𝐳</m:t>
                              </m:r>
                            </m:e>
                          </m:d>
                          <m:r>
                            <a:rPr lang="en-AU" sz="2000" i="1">
                              <a:solidFill>
                                <a:srgbClr val="F2EDE4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AU" sz="2000" i="1">
                                  <a:solidFill>
                                    <a:srgbClr val="F2EDE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AU" sz="2000" i="1">
                                  <a:solidFill>
                                    <a:srgbClr val="F2EDE4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AU" sz="2000" i="1">
                                  <a:solidFill>
                                    <a:srgbClr val="F2EDE4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sSup>
                            <m:sSupPr>
                              <m:ctrlPr>
                                <a:rPr lang="en-AU" sz="2000" i="1">
                                  <a:solidFill>
                                    <a:srgbClr val="F2EDE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AU" sz="2000" i="1">
                                      <a:solidFill>
                                        <a:srgbClr val="F2EDE4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AU" sz="2000" i="1">
                                          <a:solidFill>
                                            <a:srgbClr val="F2EDE4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AU" sz="2000" i="1">
                                          <a:solidFill>
                                            <a:srgbClr val="F2EDE4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ℱ</m:t>
                                      </m:r>
                                    </m:e>
                                    <m:sub>
                                      <m:r>
                                        <a:rPr lang="en-AU" sz="2000" i="1">
                                          <a:solidFill>
                                            <a:srgbClr val="F2EDE4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𝜌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AU" sz="2000" i="1">
                                          <a:solidFill>
                                            <a:srgbClr val="F2EDE4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AU" sz="2000" i="1">
                                          <a:solidFill>
                                            <a:srgbClr val="F2EDE4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𝐟</m:t>
                                      </m:r>
                                    </m:e>
                                    <m:sub>
                                      <m:r>
                                        <a:rPr lang="en-AU" sz="2000" i="1">
                                          <a:solidFill>
                                            <a:srgbClr val="F2EDE4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𝜆</m:t>
                                      </m:r>
                                    </m:sub>
                                  </m:sSub>
                                  <m:r>
                                    <a:rPr lang="en-AU" sz="2000" i="1">
                                      <a:solidFill>
                                        <a:srgbClr val="F2EDE4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AU" sz="2000" i="1">
                                          <a:solidFill>
                                            <a:srgbClr val="F2EDE4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AU" sz="2000" i="1">
                                          <a:solidFill>
                                            <a:srgbClr val="F2EDE4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ℱ</m:t>
                                      </m:r>
                                    </m:e>
                                    <m:sub>
                                      <m:r>
                                        <a:rPr lang="en-AU" sz="2000" i="1">
                                          <a:solidFill>
                                            <a:srgbClr val="F2EDE4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𝜌</m:t>
                                      </m:r>
                                    </m:sub>
                                  </m:sSub>
                                  <m:r>
                                    <a:rPr lang="en-AU" sz="2000" i="1">
                                      <a:solidFill>
                                        <a:srgbClr val="F2EDE4"/>
                                      </a:solidFill>
                                      <a:latin typeface="Cambria Math" panose="02040503050406030204" pitchFamily="18" charset="0"/>
                                    </a:rPr>
                                    <m:t>𝐳</m:t>
                                  </m:r>
                                </m:e>
                              </m:d>
                            </m:e>
                            <m:sup>
                              <m:r>
                                <a:rPr lang="en-AU" sz="2000" i="1">
                                  <a:solidFill>
                                    <a:srgbClr val="F2EDE4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AU" sz="2000" i="1">
                              <a:solidFill>
                                <a:srgbClr val="F2EDE4"/>
                              </a:solidFill>
                              <a:latin typeface="Cambria Math" panose="02040503050406030204" pitchFamily="18" charset="0"/>
                            </a:rPr>
                            <m:t> </m:t>
                          </m:r>
                          <m:r>
                            <m:rPr>
                              <m:nor/>
                            </m:rPr>
                            <a:rPr lang="en-AU" sz="2000" i="0">
                              <a:solidFill>
                                <a:srgbClr val="F2EDE4"/>
                              </a:solidFill>
                              <a:latin typeface="Cambria Math" panose="02040503050406030204" pitchFamily="18" charset="0"/>
                            </a:rPr>
                            <m:t>s.t.</m:t>
                          </m:r>
                          <m:r>
                            <a:rPr lang="en-AU" sz="2000" i="1">
                              <a:solidFill>
                                <a:srgbClr val="F2EDE4"/>
                              </a:solidFill>
                              <a:latin typeface="Cambria Math" panose="02040503050406030204" pitchFamily="18" charset="0"/>
                            </a:rPr>
                            <m:t> </m:t>
                          </m:r>
                          <m:r>
                            <a:rPr lang="en-AU" sz="2000" i="1">
                              <a:solidFill>
                                <a:srgbClr val="F2EDE4"/>
                              </a:solidFill>
                              <a:latin typeface="Cambria Math" panose="02040503050406030204" pitchFamily="18" charset="0"/>
                            </a:rPr>
                            <m:t>𝐳</m:t>
                          </m:r>
                          <m:r>
                            <a:rPr lang="en-AU" sz="2000" i="1">
                              <a:solidFill>
                                <a:srgbClr val="F2EDE4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AU" sz="2000" i="1">
                                  <a:solidFill>
                                    <a:srgbClr val="F2EDE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000" i="1">
                                  <a:solidFill>
                                    <a:srgbClr val="F2EDE4"/>
                                  </a:solidFill>
                                  <a:latin typeface="Cambria Math" panose="02040503050406030204" pitchFamily="18" charset="0"/>
                                </a:rPr>
                                <m:t>𝒮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AU" sz="2000" b="0" i="1" smtClean="0">
                                      <a:solidFill>
                                        <a:srgbClr val="F2EDE4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AU" sz="2000" b="0" i="1" smtClean="0">
                                      <a:solidFill>
                                        <a:srgbClr val="F2EDE4"/>
                                      </a:solidFill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</m:e>
                                <m:sub>
                                  <m:r>
                                    <a:rPr lang="en-AU" sz="2000" i="1">
                                      <a:solidFill>
                                        <a:srgbClr val="F2EDE4"/>
                                      </a:solidFill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sub>
                              </m:sSub>
                            </m:sub>
                          </m:sSub>
                        </m:e>
                      </m:func>
                    </m:oMath>
                  </m:oMathPara>
                </a14:m>
                <a:endParaRPr lang="en-AU" sz="2000" dirty="0">
                  <a:solidFill>
                    <a:srgbClr val="F2EDE4"/>
                  </a:solidFill>
                </a:endParaRPr>
              </a:p>
              <a:p>
                <a:pPr>
                  <a:spcAft>
                    <a:spcPts val="1200"/>
                  </a:spcAft>
                  <a:buSzPct val="100000"/>
                </a:pPr>
                <a:endParaRPr lang="en-AU" sz="2000" dirty="0">
                  <a:solidFill>
                    <a:srgbClr val="F2EDE4"/>
                  </a:solidFill>
                </a:endParaRPr>
              </a:p>
              <a:p>
                <a:pPr>
                  <a:spcAft>
                    <a:spcPts val="1200"/>
                  </a:spcAft>
                  <a:buSzPct val="100000"/>
                </a:pPr>
                <a:r>
                  <a:rPr lang="en-AU" dirty="0">
                    <a:solidFill>
                      <a:srgbClr val="F2EDE4"/>
                    </a:solidFill>
                  </a:rPr>
                  <a:t>Gradient:</a:t>
                </a:r>
              </a:p>
              <a:p>
                <a:pPr>
                  <a:spcAft>
                    <a:spcPts val="1200"/>
                  </a:spcAft>
                  <a:buSzPct val="100000"/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AU" sz="2000" i="0" smtClean="0">
                          <a:solidFill>
                            <a:srgbClr val="F2EDE4"/>
                          </a:solidFill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AU" sz="2000" i="1">
                          <a:solidFill>
                            <a:srgbClr val="F2EDE4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AU" sz="2000" i="1">
                              <a:solidFill>
                                <a:srgbClr val="F2EDE4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000" i="1">
                              <a:solidFill>
                                <a:srgbClr val="F2EDE4"/>
                              </a:solidFill>
                              <a:latin typeface="Cambria Math" panose="02040503050406030204" pitchFamily="18" charset="0"/>
                            </a:rPr>
                            <m:t>𝐳</m:t>
                          </m:r>
                        </m:e>
                      </m:d>
                      <m:r>
                        <a:rPr lang="en-AU" sz="2000" i="1">
                          <a:solidFill>
                            <a:srgbClr val="F2EDE4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AU" sz="2000" i="1">
                              <a:solidFill>
                                <a:srgbClr val="F2EDE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AU" sz="2000" i="1">
                              <a:solidFill>
                                <a:srgbClr val="F2EDE4"/>
                              </a:solidFill>
                              <a:latin typeface="Cambria Math" panose="02040503050406030204" pitchFamily="18" charset="0"/>
                            </a:rPr>
                            <m:t>ℱ</m:t>
                          </m:r>
                        </m:e>
                        <m:sub>
                          <m:r>
                            <a:rPr lang="en-AU" sz="2000" i="1">
                              <a:solidFill>
                                <a:srgbClr val="F2EDE4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sub>
                        <m:sup>
                          <m:r>
                            <a:rPr lang="en-AU" sz="2000" i="1">
                              <a:solidFill>
                                <a:srgbClr val="F2EDE4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sSub>
                        <m:sSubPr>
                          <m:ctrlPr>
                            <a:rPr lang="en-AU" sz="2000" i="1">
                              <a:solidFill>
                                <a:srgbClr val="F2EDE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000" i="1">
                              <a:solidFill>
                                <a:srgbClr val="F2EDE4"/>
                              </a:solidFill>
                              <a:latin typeface="Cambria Math" panose="02040503050406030204" pitchFamily="18" charset="0"/>
                            </a:rPr>
                            <m:t>ℱ</m:t>
                          </m:r>
                        </m:e>
                        <m:sub>
                          <m:r>
                            <a:rPr lang="en-AU" sz="2000" i="1">
                              <a:solidFill>
                                <a:srgbClr val="F2EDE4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sub>
                      </m:sSub>
                      <m:d>
                        <m:dPr>
                          <m:ctrlPr>
                            <a:rPr lang="en-AU" sz="2000" i="1">
                              <a:solidFill>
                                <a:srgbClr val="F2EDE4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000" i="1">
                              <a:solidFill>
                                <a:srgbClr val="F2EDE4"/>
                              </a:solidFill>
                              <a:latin typeface="Cambria Math" panose="02040503050406030204" pitchFamily="18" charset="0"/>
                            </a:rPr>
                            <m:t>𝐳</m:t>
                          </m:r>
                          <m:r>
                            <a:rPr lang="en-AU" sz="2000" i="1">
                              <a:solidFill>
                                <a:srgbClr val="F2EDE4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AU" sz="2000" i="1">
                                  <a:solidFill>
                                    <a:srgbClr val="F2EDE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000" i="1">
                                  <a:solidFill>
                                    <a:srgbClr val="F2EDE4"/>
                                  </a:solidFill>
                                  <a:latin typeface="Cambria Math" panose="02040503050406030204" pitchFamily="18" charset="0"/>
                                </a:rPr>
                                <m:t>𝐟</m:t>
                              </m:r>
                            </m:e>
                            <m:sub>
                              <m:r>
                                <a:rPr lang="en-AU" sz="2000" i="1">
                                  <a:solidFill>
                                    <a:srgbClr val="F2EDE4"/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AU" sz="2000" dirty="0">
                  <a:solidFill>
                    <a:srgbClr val="F2EDE4"/>
                  </a:solidFill>
                </a:endParaRPr>
              </a:p>
            </p:txBody>
          </p:sp>
        </mc:Choice>
        <mc:Fallback xmlns="">
          <p:sp>
            <p:nvSpPr>
              <p:cNvPr id="16" name="Text 1">
                <a:extLst>
                  <a:ext uri="{FF2B5EF4-FFF2-40B4-BE49-F238E27FC236}">
                    <a16:creationId xmlns:a16="http://schemas.microsoft.com/office/drawing/2014/main" id="{12D70CF8-A5E9-E330-9714-2EB3A871657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" y="1737360"/>
                <a:ext cx="4960620" cy="4114800"/>
              </a:xfrm>
              <a:prstGeom prst="rect">
                <a:avLst/>
              </a:prstGeom>
              <a:blipFill>
                <a:blip r:embed="rId3"/>
                <a:stretch>
                  <a:fillRect l="-983" t="-741"/>
                </a:stretch>
              </a:blipFill>
              <a:ln/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Shape 1">
            <a:extLst>
              <a:ext uri="{FF2B5EF4-FFF2-40B4-BE49-F238E27FC236}">
                <a16:creationId xmlns:a16="http://schemas.microsoft.com/office/drawing/2014/main" id="{68CB8861-7B3B-7536-CDEF-8A1734C34898}"/>
              </a:ext>
            </a:extLst>
          </p:cNvPr>
          <p:cNvSpPr/>
          <p:nvPr/>
        </p:nvSpPr>
        <p:spPr>
          <a:xfrm>
            <a:off x="6887407" y="1371599"/>
            <a:ext cx="4371143" cy="2733675"/>
          </a:xfrm>
          <a:prstGeom prst="rect">
            <a:avLst/>
          </a:prstGeom>
          <a:solidFill>
            <a:srgbClr val="1B2A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AU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1">
                <a:extLst>
                  <a:ext uri="{FF2B5EF4-FFF2-40B4-BE49-F238E27FC236}">
                    <a16:creationId xmlns:a16="http://schemas.microsoft.com/office/drawing/2014/main" id="{A407F93F-67A9-10E8-CA21-D804AE89AE3A}"/>
                  </a:ext>
                </a:extLst>
              </p:cNvPr>
              <p:cNvSpPr/>
              <p:nvPr/>
            </p:nvSpPr>
            <p:spPr>
              <a:xfrm>
                <a:off x="7040950" y="1567968"/>
                <a:ext cx="4885180" cy="4114800"/>
              </a:xfrm>
              <a:prstGeom prst="rect">
                <a:avLst/>
              </a:prstGeom>
              <a:noFill/>
              <a:ln/>
            </p:spPr>
            <p:txBody>
              <a:bodyPr wrap="square" rtlCol="0" anchor="t"/>
              <a:lstStyle/>
              <a:p>
                <a:pPr>
                  <a:spcAft>
                    <a:spcPts val="1200"/>
                  </a:spcAft>
                  <a:buSzPct val="100000"/>
                </a:pPr>
                <a:r>
                  <a:rPr lang="en-AU" dirty="0">
                    <a:solidFill>
                      <a:srgbClr val="F2EDE4"/>
                    </a:solidFill>
                  </a:rPr>
                  <a:t>PGD Inner Loop – repeat to convergence:</a:t>
                </a:r>
              </a:p>
              <a:p>
                <a:pPr>
                  <a:spcAft>
                    <a:spcPts val="1200"/>
                  </a:spcAft>
                  <a:buSzPct val="100000"/>
                </a:pPr>
                <a:r>
                  <a:rPr lang="en-AU" dirty="0">
                    <a:solidFill>
                      <a:srgbClr val="F2EDE4"/>
                    </a:solidFill>
                  </a:rPr>
                  <a:t>Gradient-step:</a:t>
                </a:r>
              </a:p>
              <a:p>
                <a:pPr>
                  <a:spcAft>
                    <a:spcPts val="1200"/>
                  </a:spcAft>
                  <a:buSzPct val="100000"/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AU" sz="2000" i="1">
                              <a:solidFill>
                                <a:srgbClr val="F2EDE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000" i="1">
                              <a:solidFill>
                                <a:srgbClr val="F2EDE4"/>
                              </a:solidFill>
                              <a:latin typeface="Cambria Math" panose="02040503050406030204" pitchFamily="18" charset="0"/>
                            </a:rPr>
                            <m:t>𝐲</m:t>
                          </m:r>
                        </m:e>
                        <m:sup>
                          <m:r>
                            <a:rPr lang="en-AU" sz="2000" i="1">
                              <a:solidFill>
                                <a:srgbClr val="F2EDE4"/>
                              </a:solidFill>
                              <a:latin typeface="Cambria Math" panose="02040503050406030204" pitchFamily="18" charset="0"/>
                            </a:rPr>
                            <m:t>𝐤</m:t>
                          </m:r>
                        </m:sup>
                      </m:sSup>
                      <m:r>
                        <a:rPr lang="en-AU" sz="2000" i="1">
                          <a:solidFill>
                            <a:srgbClr val="F2EDE4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sz="2000" i="1">
                              <a:solidFill>
                                <a:srgbClr val="F2EDE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000" i="1">
                              <a:solidFill>
                                <a:srgbClr val="F2EDE4"/>
                              </a:solidFill>
                              <a:latin typeface="Cambria Math" panose="02040503050406030204" pitchFamily="18" charset="0"/>
                            </a:rPr>
                            <m:t>𝐳</m:t>
                          </m:r>
                        </m:e>
                        <m:sup>
                          <m:r>
                            <a:rPr lang="en-AU" sz="2000" i="1">
                              <a:solidFill>
                                <a:srgbClr val="F2EDE4"/>
                              </a:solidFill>
                              <a:latin typeface="Cambria Math" panose="02040503050406030204" pitchFamily="18" charset="0"/>
                            </a:rPr>
                            <m:t>𝐤</m:t>
                          </m:r>
                          <m:r>
                            <a:rPr lang="en-AU" sz="2000" i="1">
                              <a:solidFill>
                                <a:srgbClr val="F2EDE4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AU" sz="2000" i="1">
                              <a:solidFill>
                                <a:srgbClr val="F2EDE4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r>
                        <a:rPr lang="en-AU" sz="2000" i="1">
                          <a:solidFill>
                            <a:srgbClr val="F2EDE4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AU" sz="2000" i="1">
                              <a:solidFill>
                                <a:srgbClr val="F2EDE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000" i="1">
                              <a:solidFill>
                                <a:srgbClr val="F2EDE4"/>
                              </a:solidFill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AU" sz="2000" i="1">
                              <a:solidFill>
                                <a:srgbClr val="F2EDE4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AU" sz="2000" i="1">
                          <a:solidFill>
                            <a:srgbClr val="F2EDE4"/>
                          </a:solidFill>
                          <a:latin typeface="Cambria Math" panose="02040503050406030204" pitchFamily="18" charset="0"/>
                        </a:rPr>
                        <m:t> </m:t>
                      </m:r>
                      <m:r>
                        <m:rPr>
                          <m:sty m:val="p"/>
                        </m:rPr>
                        <a:rPr lang="en-AU" sz="2000" i="0">
                          <a:solidFill>
                            <a:srgbClr val="F2EDE4"/>
                          </a:solidFill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AU" sz="2000" i="1">
                          <a:solidFill>
                            <a:srgbClr val="F2EDE4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AU" sz="2000" i="1">
                              <a:solidFill>
                                <a:srgbClr val="F2EDE4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AU" sz="2000" i="1">
                                  <a:solidFill>
                                    <a:srgbClr val="F2EDE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sz="2000" i="1">
                                  <a:solidFill>
                                    <a:srgbClr val="F2EDE4"/>
                                  </a:solidFill>
                                  <a:latin typeface="Cambria Math" panose="02040503050406030204" pitchFamily="18" charset="0"/>
                                </a:rPr>
                                <m:t>𝐳</m:t>
                              </m:r>
                            </m:e>
                            <m:sup>
                              <m:r>
                                <a:rPr lang="en-AU" sz="2000" i="1">
                                  <a:solidFill>
                                    <a:srgbClr val="F2EDE4"/>
                                  </a:solidFill>
                                  <a:latin typeface="Cambria Math" panose="02040503050406030204" pitchFamily="18" charset="0"/>
                                </a:rPr>
                                <m:t>𝐤</m:t>
                              </m:r>
                              <m:r>
                                <a:rPr lang="en-AU" sz="2000" i="1">
                                  <a:solidFill>
                                    <a:srgbClr val="F2EDE4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AU" sz="2000" i="1">
                                  <a:solidFill>
                                    <a:srgbClr val="F2EDE4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AU" sz="2000" dirty="0">
                  <a:solidFill>
                    <a:srgbClr val="F2EDE4"/>
                  </a:solidFill>
                </a:endParaRPr>
              </a:p>
              <a:p>
                <a:pPr>
                  <a:spcAft>
                    <a:spcPts val="1200"/>
                  </a:spcAft>
                  <a:buSzPct val="100000"/>
                </a:pPr>
                <a:r>
                  <a:rPr lang="en-AU" dirty="0">
                    <a:solidFill>
                      <a:srgbClr val="F2EDE4"/>
                    </a:solidFill>
                  </a:rPr>
                  <a:t>Project to support:</a:t>
                </a:r>
              </a:p>
              <a:p>
                <a:pPr>
                  <a:spcAft>
                    <a:spcPts val="1200"/>
                  </a:spcAft>
                  <a:buSzPct val="100000"/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AU" sz="2000" i="1">
                              <a:solidFill>
                                <a:srgbClr val="F2EDE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000" i="1">
                              <a:solidFill>
                                <a:srgbClr val="F2EDE4"/>
                              </a:solidFill>
                              <a:latin typeface="Cambria Math" panose="02040503050406030204" pitchFamily="18" charset="0"/>
                            </a:rPr>
                            <m:t>𝐳</m:t>
                          </m:r>
                        </m:e>
                        <m:sup>
                          <m:r>
                            <a:rPr lang="en-AU" sz="2000" i="1">
                              <a:solidFill>
                                <a:srgbClr val="F2EDE4"/>
                              </a:solidFill>
                              <a:latin typeface="Cambria Math" panose="02040503050406030204" pitchFamily="18" charset="0"/>
                            </a:rPr>
                            <m:t>𝐤</m:t>
                          </m:r>
                        </m:sup>
                      </m:sSup>
                      <m:r>
                        <a:rPr lang="en-AU" sz="2000" i="1">
                          <a:solidFill>
                            <a:srgbClr val="F2EDE4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AU" sz="2000" i="1">
                              <a:solidFill>
                                <a:srgbClr val="F2EDE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000" i="1">
                              <a:solidFill>
                                <a:srgbClr val="F2EDE4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sSub>
                            <m:sSubPr>
                              <m:ctrlPr>
                                <a:rPr lang="en-AU" sz="2000" i="1">
                                  <a:solidFill>
                                    <a:srgbClr val="F2EDE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000" i="1">
                                  <a:solidFill>
                                    <a:srgbClr val="F2EDE4"/>
                                  </a:solidFill>
                                  <a:latin typeface="Cambria Math" panose="02040503050406030204" pitchFamily="18" charset="0"/>
                                </a:rPr>
                                <m:t>𝒮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AU" sz="2000" b="0" i="1" smtClean="0">
                                      <a:solidFill>
                                        <a:srgbClr val="F2EDE4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AU" sz="2000" b="0" i="1" smtClean="0">
                                      <a:solidFill>
                                        <a:srgbClr val="F2EDE4"/>
                                      </a:solidFill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</m:e>
                                <m:sub>
                                  <m:r>
                                    <a:rPr lang="en-AU" sz="2000" i="1">
                                      <a:solidFill>
                                        <a:srgbClr val="F2EDE4"/>
                                      </a:solidFill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sub>
                              </m:sSub>
                            </m:sub>
                          </m:sSub>
                        </m:sub>
                      </m:sSub>
                      <m:d>
                        <m:dPr>
                          <m:ctrlPr>
                            <a:rPr lang="en-AU" sz="2000" i="1">
                              <a:solidFill>
                                <a:srgbClr val="F2EDE4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AU" sz="2000" i="1">
                                  <a:solidFill>
                                    <a:srgbClr val="F2EDE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sz="2000" i="1">
                                  <a:solidFill>
                                    <a:srgbClr val="F2EDE4"/>
                                  </a:solidFill>
                                  <a:latin typeface="Cambria Math" panose="02040503050406030204" pitchFamily="18" charset="0"/>
                                </a:rPr>
                                <m:t>𝐲</m:t>
                              </m:r>
                            </m:e>
                            <m:sup>
                              <m:r>
                                <a:rPr lang="en-AU" sz="2000" i="1">
                                  <a:solidFill>
                                    <a:srgbClr val="F2EDE4"/>
                                  </a:solidFill>
                                  <a:latin typeface="Cambria Math" panose="02040503050406030204" pitchFamily="18" charset="0"/>
                                </a:rPr>
                                <m:t>𝐤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AU" sz="2000" dirty="0">
                  <a:solidFill>
                    <a:srgbClr val="F2EDE4"/>
                  </a:solidFill>
                </a:endParaRPr>
              </a:p>
            </p:txBody>
          </p:sp>
        </mc:Choice>
        <mc:Fallback xmlns="">
          <p:sp>
            <p:nvSpPr>
              <p:cNvPr id="12" name="Text 1">
                <a:extLst>
                  <a:ext uri="{FF2B5EF4-FFF2-40B4-BE49-F238E27FC236}">
                    <a16:creationId xmlns:a16="http://schemas.microsoft.com/office/drawing/2014/main" id="{A407F93F-67A9-10E8-CA21-D804AE89AE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0950" y="1567968"/>
                <a:ext cx="4885180" cy="4114800"/>
              </a:xfrm>
              <a:prstGeom prst="rect">
                <a:avLst/>
              </a:prstGeom>
              <a:blipFill>
                <a:blip r:embed="rId4"/>
                <a:stretch>
                  <a:fillRect l="-999" t="-741"/>
                </a:stretch>
              </a:blipFill>
              <a:ln/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8" name="Group 37">
            <a:extLst>
              <a:ext uri="{FF2B5EF4-FFF2-40B4-BE49-F238E27FC236}">
                <a16:creationId xmlns:a16="http://schemas.microsoft.com/office/drawing/2014/main" id="{B6490DBA-3F65-84C7-6422-42D5A35F9001}"/>
              </a:ext>
            </a:extLst>
          </p:cNvPr>
          <p:cNvGrpSpPr/>
          <p:nvPr/>
        </p:nvGrpSpPr>
        <p:grpSpPr>
          <a:xfrm>
            <a:off x="6887407" y="4875786"/>
            <a:ext cx="4371143" cy="1565541"/>
            <a:chOff x="6949440" y="1737360"/>
            <a:chExt cx="4480560" cy="3796677"/>
          </a:xfrm>
        </p:grpSpPr>
        <p:sp>
          <p:nvSpPr>
            <p:cNvPr id="39" name="Shape 2">
              <a:extLst>
                <a:ext uri="{FF2B5EF4-FFF2-40B4-BE49-F238E27FC236}">
                  <a16:creationId xmlns:a16="http://schemas.microsoft.com/office/drawing/2014/main" id="{921BB49A-B91A-203B-34AB-8CE5E0164CF2}"/>
                </a:ext>
              </a:extLst>
            </p:cNvPr>
            <p:cNvSpPr/>
            <p:nvPr/>
          </p:nvSpPr>
          <p:spPr>
            <a:xfrm>
              <a:off x="6949440" y="1737360"/>
              <a:ext cx="4480560" cy="2277095"/>
            </a:xfrm>
            <a:prstGeom prst="rect">
              <a:avLst/>
            </a:prstGeom>
            <a:solidFill>
              <a:srgbClr val="E8DCC8"/>
            </a:solidFill>
            <a:ln/>
            <a:effectLst>
              <a:outerShdw blurRad="101600" dist="38100" dir="8100000" algn="bl" rotWithShape="0">
                <a:srgbClr val="000000">
                  <a:alpha val="25000"/>
                </a:srgbClr>
              </a:outerShdw>
            </a:effectLst>
          </p:spPr>
          <p:txBody>
            <a:bodyPr/>
            <a:lstStyle/>
            <a:p>
              <a:endParaRPr lang="en-AU" noProof="0" dirty="0"/>
            </a:p>
          </p:txBody>
        </p:sp>
        <p:sp>
          <p:nvSpPr>
            <p:cNvPr id="40" name="Shape 3">
              <a:extLst>
                <a:ext uri="{FF2B5EF4-FFF2-40B4-BE49-F238E27FC236}">
                  <a16:creationId xmlns:a16="http://schemas.microsoft.com/office/drawing/2014/main" id="{42D5738C-5756-E838-8EED-1870BAADF2A2}"/>
                </a:ext>
              </a:extLst>
            </p:cNvPr>
            <p:cNvSpPr/>
            <p:nvPr/>
          </p:nvSpPr>
          <p:spPr>
            <a:xfrm>
              <a:off x="6949440" y="1737360"/>
              <a:ext cx="109728" cy="2277095"/>
            </a:xfrm>
            <a:prstGeom prst="rect">
              <a:avLst/>
            </a:prstGeom>
            <a:solidFill>
              <a:srgbClr val="D4621A"/>
            </a:solidFill>
            <a:ln/>
          </p:spPr>
          <p:txBody>
            <a:bodyPr/>
            <a:lstStyle/>
            <a:p>
              <a:endParaRPr lang="en-AU" noProof="0" dirty="0"/>
            </a:p>
          </p:txBody>
        </p:sp>
        <p:sp>
          <p:nvSpPr>
            <p:cNvPr id="41" name="Text 4">
              <a:extLst>
                <a:ext uri="{FF2B5EF4-FFF2-40B4-BE49-F238E27FC236}">
                  <a16:creationId xmlns:a16="http://schemas.microsoft.com/office/drawing/2014/main" id="{9FC0B6C0-4610-18B0-020F-12071FA0080B}"/>
                </a:ext>
              </a:extLst>
            </p:cNvPr>
            <p:cNvSpPr/>
            <p:nvPr/>
          </p:nvSpPr>
          <p:spPr>
            <a:xfrm>
              <a:off x="7269480" y="2057400"/>
              <a:ext cx="393192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AU" sz="1400" b="1" kern="0" spc="200" noProof="0" dirty="0">
                  <a:solidFill>
                    <a:srgbClr val="D4621A"/>
                  </a:solidFill>
                  <a:latin typeface="Segoe UI Semibold" pitchFamily="34" charset="0"/>
                  <a:ea typeface="Segoe UI Semibold" pitchFamily="34" charset="-122"/>
                  <a:cs typeface="Segoe UI Semibold" pitchFamily="34" charset="-120"/>
                </a:rPr>
                <a:t>THE HIGHPASS FILTER</a:t>
              </a:r>
              <a:endParaRPr lang="en-AU" sz="1400" noProof="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 5">
                  <a:extLst>
                    <a:ext uri="{FF2B5EF4-FFF2-40B4-BE49-F238E27FC236}">
                      <a16:creationId xmlns:a16="http://schemas.microsoft.com/office/drawing/2014/main" id="{35E507E0-F1A1-0FD3-F7D2-6E6F6288ACA8}"/>
                    </a:ext>
                  </a:extLst>
                </p:cNvPr>
                <p:cNvSpPr/>
                <p:nvPr/>
              </p:nvSpPr>
              <p:spPr>
                <a:xfrm>
                  <a:off x="7106827" y="2834640"/>
                  <a:ext cx="4215776" cy="2699397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t"/>
                <a:lstStyle/>
                <a:p>
                  <a:pPr algn="ctr"/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ℱ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𝜌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ℱ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𝜌</m:t>
                          </m:r>
                          <m:r>
                            <m:rPr>
                              <m:nor/>
                            </m:rPr>
                            <a:rPr lang="en-US" sz="2000" i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</m:oMath>
                  </a14:m>
                  <a:r>
                    <a:rPr lang="en-AU" sz="2000" noProof="0" dirty="0"/>
                    <a:t>keeps only frequencies in </a:t>
                  </a:r>
                  <a14:m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𝜌</m:t>
                      </m:r>
                    </m:oMath>
                  </a14:m>
                  <a:endParaRPr lang="en-AU" sz="2000" noProof="0" dirty="0"/>
                </a:p>
              </p:txBody>
            </p:sp>
          </mc:Choice>
          <mc:Fallback xmlns="">
            <p:sp>
              <p:nvSpPr>
                <p:cNvPr id="42" name="Text 5">
                  <a:extLst>
                    <a:ext uri="{FF2B5EF4-FFF2-40B4-BE49-F238E27FC236}">
                      <a16:creationId xmlns:a16="http://schemas.microsoft.com/office/drawing/2014/main" id="{35E507E0-F1A1-0FD3-F7D2-6E6F6288ACA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06827" y="2834640"/>
                  <a:ext cx="4215776" cy="2699397"/>
                </a:xfrm>
                <a:prstGeom prst="rect">
                  <a:avLst/>
                </a:prstGeom>
                <a:blipFill>
                  <a:blip r:embed="rId5"/>
                  <a:stretch>
                    <a:fillRect t="-6557"/>
                  </a:stretch>
                </a:blipFill>
                <a:ln/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6257029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C6FDE3-B39D-C4FB-56D6-6584607D2C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D55FB96-29C2-498E-6CAF-897526CB9B91}"/>
              </a:ext>
            </a:extLst>
          </p:cNvPr>
          <p:cNvSpPr/>
          <p:nvPr/>
        </p:nvSpPr>
        <p:spPr>
          <a:xfrm>
            <a:off x="640080" y="5486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AU" sz="3200" b="1" noProof="0" dirty="0">
                <a:solidFill>
                  <a:srgbClr val="F2EDE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Inner PGD Loop</a:t>
            </a:r>
          </a:p>
          <a:p>
            <a:pPr marL="0" indent="0">
              <a:buNone/>
            </a:pPr>
            <a:r>
              <a:rPr lang="en-AU" sz="1600" noProof="0" dirty="0">
                <a:solidFill>
                  <a:srgbClr val="C49A45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Set-up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646FB8-9305-1F2F-517F-6B67425874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5735" y="1753840"/>
            <a:ext cx="9440531" cy="4720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0353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5C71D8-0D99-820E-943F-796280487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398AF40-6048-0707-CE00-52D6C1CC689F}"/>
              </a:ext>
            </a:extLst>
          </p:cNvPr>
          <p:cNvSpPr/>
          <p:nvPr/>
        </p:nvSpPr>
        <p:spPr>
          <a:xfrm>
            <a:off x="640080" y="5486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AU" sz="3200" b="1" noProof="0" dirty="0">
                <a:solidFill>
                  <a:srgbClr val="F2EDE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Inner PGD Loop</a:t>
            </a:r>
          </a:p>
          <a:p>
            <a:pPr marL="0" indent="0">
              <a:buNone/>
            </a:pPr>
            <a:r>
              <a:rPr lang="en-AU" sz="1600" noProof="0" dirty="0">
                <a:solidFill>
                  <a:srgbClr val="C49A45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Set-up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9BE02C-91C5-00A0-B208-DDA51A00458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75735" y="1753840"/>
            <a:ext cx="9440530" cy="4720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30142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BAC6B4-3E2A-506F-495D-1CCE8E50D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118FA8F-84BC-7DBF-F233-696CEBE482B2}"/>
              </a:ext>
            </a:extLst>
          </p:cNvPr>
          <p:cNvSpPr/>
          <p:nvPr/>
        </p:nvSpPr>
        <p:spPr>
          <a:xfrm>
            <a:off x="640080" y="5486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AU" sz="3200" b="1" noProof="0" dirty="0">
                <a:solidFill>
                  <a:srgbClr val="F2EDE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Inner PGD Loop</a:t>
            </a:r>
          </a:p>
          <a:p>
            <a:pPr marL="0" indent="0">
              <a:buNone/>
            </a:pPr>
            <a:r>
              <a:rPr lang="en-AU" sz="1600" noProof="0" dirty="0">
                <a:solidFill>
                  <a:srgbClr val="C49A45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Set-up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B27C7F-52D9-F508-4330-B9CB060FEF7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75735" y="1753840"/>
            <a:ext cx="9440530" cy="4720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85422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CB4197-0713-C8EF-BC98-54AAD32EDC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F89ACC4-8EC2-3BFC-F158-E326A5473F88}"/>
              </a:ext>
            </a:extLst>
          </p:cNvPr>
          <p:cNvSpPr/>
          <p:nvPr/>
        </p:nvSpPr>
        <p:spPr>
          <a:xfrm>
            <a:off x="640080" y="5486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AU" sz="3200" b="1" noProof="0" dirty="0">
                <a:solidFill>
                  <a:srgbClr val="F2EDE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Inner PGD Loop</a:t>
            </a:r>
          </a:p>
          <a:p>
            <a:pPr marL="0" indent="0">
              <a:buNone/>
            </a:pPr>
            <a:r>
              <a:rPr lang="en-AU" sz="1600" noProof="0" dirty="0">
                <a:solidFill>
                  <a:srgbClr val="C49A45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Set-up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AC8538-5872-2F64-36D0-E00739F813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75735" y="1753840"/>
            <a:ext cx="9440530" cy="4720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07449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3EF1C2-E4EA-F6C4-F3A7-E3CEE03B0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7393526-3F22-60AD-A96B-4BB569262F42}"/>
              </a:ext>
            </a:extLst>
          </p:cNvPr>
          <p:cNvSpPr/>
          <p:nvPr/>
        </p:nvSpPr>
        <p:spPr>
          <a:xfrm>
            <a:off x="640080" y="5486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AU" sz="3200" b="1" noProof="0" dirty="0">
                <a:solidFill>
                  <a:srgbClr val="F2EDE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Inner PGD Loop</a:t>
            </a:r>
          </a:p>
          <a:p>
            <a:pPr marL="0" indent="0">
              <a:buNone/>
            </a:pPr>
            <a:r>
              <a:rPr lang="en-AU" sz="1600" noProof="0" dirty="0">
                <a:solidFill>
                  <a:srgbClr val="C49A45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Set-up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124FAF-CE73-052A-4973-54A299B6196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75736" y="1753840"/>
            <a:ext cx="9440528" cy="4720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48117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E8AA32-95AD-C51F-C950-6FF262834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55EBBBB-10C6-433A-58F1-4EA4716B5A86}"/>
              </a:ext>
            </a:extLst>
          </p:cNvPr>
          <p:cNvSpPr/>
          <p:nvPr/>
        </p:nvSpPr>
        <p:spPr>
          <a:xfrm>
            <a:off x="640080" y="5486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AU" sz="3200" b="1" noProof="0" dirty="0">
                <a:solidFill>
                  <a:srgbClr val="F2EDE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Inner PGD Loop</a:t>
            </a:r>
          </a:p>
          <a:p>
            <a:pPr marL="0" indent="0">
              <a:buNone/>
            </a:pPr>
            <a:r>
              <a:rPr lang="en-AU" sz="1600" noProof="0" dirty="0">
                <a:solidFill>
                  <a:srgbClr val="C49A45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Set-up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AD1552-3459-BAEA-9830-272B50296F6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75736" y="1753840"/>
            <a:ext cx="9440528" cy="4720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25819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0ED404-3D59-66F3-32A9-09944863F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33F04B3-42A9-2CBC-4753-D34BF1CF70A9}"/>
              </a:ext>
            </a:extLst>
          </p:cNvPr>
          <p:cNvSpPr/>
          <p:nvPr/>
        </p:nvSpPr>
        <p:spPr>
          <a:xfrm>
            <a:off x="640080" y="5486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AU" sz="3200" b="1" noProof="0" dirty="0">
                <a:solidFill>
                  <a:srgbClr val="F2EDE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Inner PGD Loop</a:t>
            </a:r>
          </a:p>
          <a:p>
            <a:pPr marL="0" indent="0">
              <a:buNone/>
            </a:pPr>
            <a:r>
              <a:rPr lang="en-AU" sz="1600" noProof="0" dirty="0">
                <a:solidFill>
                  <a:srgbClr val="C49A45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Set-up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63A5F4-8826-A352-566E-9AB06FCDFBB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75736" y="1753840"/>
            <a:ext cx="9440528" cy="4720263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B9199441-D7E3-887E-5029-9D79997E2082}"/>
              </a:ext>
            </a:extLst>
          </p:cNvPr>
          <p:cNvGrpSpPr/>
          <p:nvPr/>
        </p:nvGrpSpPr>
        <p:grpSpPr>
          <a:xfrm>
            <a:off x="7296982" y="538101"/>
            <a:ext cx="4371143" cy="1390040"/>
            <a:chOff x="6949440" y="1737360"/>
            <a:chExt cx="4480560" cy="3371060"/>
          </a:xfrm>
        </p:grpSpPr>
        <p:sp>
          <p:nvSpPr>
            <p:cNvPr id="4" name="Shape 2">
              <a:extLst>
                <a:ext uri="{FF2B5EF4-FFF2-40B4-BE49-F238E27FC236}">
                  <a16:creationId xmlns:a16="http://schemas.microsoft.com/office/drawing/2014/main" id="{76B529A6-8383-B64A-4C58-FB6B4D7C5A11}"/>
                </a:ext>
              </a:extLst>
            </p:cNvPr>
            <p:cNvSpPr/>
            <p:nvPr/>
          </p:nvSpPr>
          <p:spPr>
            <a:xfrm>
              <a:off x="6949440" y="1737360"/>
              <a:ext cx="4480560" cy="2277095"/>
            </a:xfrm>
            <a:prstGeom prst="rect">
              <a:avLst/>
            </a:prstGeom>
            <a:solidFill>
              <a:srgbClr val="E8DCC8"/>
            </a:solidFill>
            <a:ln/>
            <a:effectLst>
              <a:outerShdw blurRad="101600" dist="38100" dir="8100000" algn="bl" rotWithShape="0">
                <a:srgbClr val="000000">
                  <a:alpha val="25000"/>
                </a:srgbClr>
              </a:outerShdw>
            </a:effectLst>
          </p:spPr>
          <p:txBody>
            <a:bodyPr/>
            <a:lstStyle/>
            <a:p>
              <a:endParaRPr lang="en-AU" noProof="0" dirty="0"/>
            </a:p>
          </p:txBody>
        </p:sp>
        <p:sp>
          <p:nvSpPr>
            <p:cNvPr id="6" name="Shape 3">
              <a:extLst>
                <a:ext uri="{FF2B5EF4-FFF2-40B4-BE49-F238E27FC236}">
                  <a16:creationId xmlns:a16="http://schemas.microsoft.com/office/drawing/2014/main" id="{0627682F-38F7-7E09-4F05-BC5732C62ABF}"/>
                </a:ext>
              </a:extLst>
            </p:cNvPr>
            <p:cNvSpPr/>
            <p:nvPr/>
          </p:nvSpPr>
          <p:spPr>
            <a:xfrm>
              <a:off x="6949440" y="1737360"/>
              <a:ext cx="109728" cy="2277095"/>
            </a:xfrm>
            <a:prstGeom prst="rect">
              <a:avLst/>
            </a:prstGeom>
            <a:solidFill>
              <a:srgbClr val="D4621A"/>
            </a:solidFill>
            <a:ln/>
          </p:spPr>
          <p:txBody>
            <a:bodyPr/>
            <a:lstStyle/>
            <a:p>
              <a:endParaRPr lang="en-AU" noProof="0" dirty="0"/>
            </a:p>
          </p:txBody>
        </p:sp>
        <p:sp>
          <p:nvSpPr>
            <p:cNvPr id="8" name="Text 5">
              <a:extLst>
                <a:ext uri="{FF2B5EF4-FFF2-40B4-BE49-F238E27FC236}">
                  <a16:creationId xmlns:a16="http://schemas.microsoft.com/office/drawing/2014/main" id="{FE69CE4C-1AB6-E4AA-6A22-DFD5332D2440}"/>
                </a:ext>
              </a:extLst>
            </p:cNvPr>
            <p:cNvSpPr/>
            <p:nvPr/>
          </p:nvSpPr>
          <p:spPr>
            <a:xfrm>
              <a:off x="7106827" y="2409023"/>
              <a:ext cx="4215776" cy="269939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/>
              <a:r>
                <a:rPr lang="en-AU" sz="2000" dirty="0"/>
                <a:t>Trust only the edges of the supports</a:t>
              </a:r>
              <a:endParaRPr lang="en-AU" sz="2000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13430135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9F0684-9996-FC20-36E2-6490E6A57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FAF2212-4C6E-1CFE-79FC-25B10764D388}"/>
              </a:ext>
            </a:extLst>
          </p:cNvPr>
          <p:cNvSpPr/>
          <p:nvPr/>
        </p:nvSpPr>
        <p:spPr>
          <a:xfrm>
            <a:off x="640080" y="5486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AU" sz="3200" b="1" noProof="0" dirty="0">
                <a:solidFill>
                  <a:srgbClr val="F2EDE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</a:t>
            </a:r>
            <a:r>
              <a:rPr lang="en-AU" sz="3200" b="1" baseline="30000" noProof="0" dirty="0">
                <a:solidFill>
                  <a:srgbClr val="F2EDE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r>
              <a:rPr lang="en-AU" sz="3200" b="1" noProof="0" dirty="0">
                <a:solidFill>
                  <a:srgbClr val="F2EDE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</a:t>
            </a:r>
            <a:r>
              <a:rPr lang="en-AU" sz="3200" b="1" baseline="30000" noProof="0" dirty="0">
                <a:solidFill>
                  <a:srgbClr val="F2EDE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r>
              <a:rPr lang="en-AU" sz="3200" b="1" noProof="0" dirty="0">
                <a:solidFill>
                  <a:srgbClr val="F2EDE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Algorithm – Full Loop</a:t>
            </a:r>
          </a:p>
          <a:p>
            <a:pPr marL="0" indent="0">
              <a:buNone/>
            </a:pPr>
            <a:r>
              <a:rPr lang="en-AU" sz="1600" noProof="0" dirty="0">
                <a:solidFill>
                  <a:srgbClr val="C49A45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Beyond Bandwidth Residual Reconstruction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 1">
                <a:extLst>
                  <a:ext uri="{FF2B5EF4-FFF2-40B4-BE49-F238E27FC236}">
                    <a16:creationId xmlns:a16="http://schemas.microsoft.com/office/drawing/2014/main" id="{2EA74E00-4961-78A4-053F-441261A2D235}"/>
                  </a:ext>
                </a:extLst>
              </p:cNvPr>
              <p:cNvSpPr/>
              <p:nvPr/>
            </p:nvSpPr>
            <p:spPr>
              <a:xfrm>
                <a:off x="640080" y="1737360"/>
                <a:ext cx="4960620" cy="4114800"/>
              </a:xfrm>
              <a:prstGeom prst="rect">
                <a:avLst/>
              </a:prstGeom>
              <a:noFill/>
              <a:ln/>
            </p:spPr>
            <p:txBody>
              <a:bodyPr wrap="square" rtlCol="0" anchor="t"/>
              <a:lstStyle/>
              <a:p>
                <a:pPr>
                  <a:spcAft>
                    <a:spcPts val="1200"/>
                  </a:spcAft>
                  <a:buSzPct val="100000"/>
                </a:pPr>
                <a:r>
                  <a:rPr lang="en-AU" sz="2800" noProof="0" dirty="0">
                    <a:solidFill>
                      <a:srgbClr val="F2EDE4"/>
                    </a:solidFill>
                  </a:rPr>
                  <a:t>Initialize: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AU" sz="2800" i="1">
                            <a:solidFill>
                              <a:srgbClr val="F2EDE4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AU" sz="2800" i="1">
                            <a:solidFill>
                              <a:srgbClr val="F2EDE4"/>
                            </a:solidFill>
                            <a:latin typeface="Cambria Math" panose="02040503050406030204" pitchFamily="18" charset="0"/>
                          </a:rPr>
                          <m:t>𝐟</m:t>
                        </m:r>
                      </m:e>
                    </m:acc>
                    <m:r>
                      <a:rPr lang="en-AU" sz="2800" i="1">
                        <a:solidFill>
                          <a:srgbClr val="F2EDE4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AU" sz="2800" i="1">
                            <a:solidFill>
                              <a:srgbClr val="F2EDE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800" i="1">
                            <a:solidFill>
                              <a:srgbClr val="F2EDE4"/>
                            </a:solidFill>
                            <a:latin typeface="Cambria Math" panose="02040503050406030204" pitchFamily="18" charset="0"/>
                          </a:rPr>
                          <m:t>𝐟</m:t>
                        </m:r>
                      </m:e>
                      <m:sub>
                        <m:r>
                          <a:rPr lang="en-AU" sz="2800" i="1">
                            <a:solidFill>
                              <a:srgbClr val="F2EDE4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sub>
                    </m:sSub>
                    <m:r>
                      <a:rPr lang="en-AU" sz="2800" i="1">
                        <a:solidFill>
                          <a:srgbClr val="F2EDE4"/>
                        </a:solidFill>
                        <a:latin typeface="Cambria Math" panose="02040503050406030204" pitchFamily="18" charset="0"/>
                      </a:rPr>
                      <m:t>, </m:t>
                    </m:r>
                    <m:sSup>
                      <m:sSupPr>
                        <m:ctrlPr>
                          <a:rPr lang="en-AU" sz="2800" i="1">
                            <a:solidFill>
                              <a:srgbClr val="F2EDE4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800" i="1">
                            <a:solidFill>
                              <a:srgbClr val="F2EDE4"/>
                            </a:solidFill>
                            <a:latin typeface="Cambria Math" panose="02040503050406030204" pitchFamily="18" charset="0"/>
                          </a:rPr>
                          <m:t>𝐳</m:t>
                        </m:r>
                      </m:e>
                      <m:sup>
                        <m:r>
                          <a:rPr lang="en-AU" sz="2800" i="1">
                            <a:solidFill>
                              <a:srgbClr val="F2EDE4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p>
                    </m:sSup>
                    <m:r>
                      <a:rPr lang="en-AU" sz="2800" i="1">
                        <a:solidFill>
                          <a:srgbClr val="F2EDE4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AU" sz="2800" i="1">
                            <a:solidFill>
                              <a:srgbClr val="F2EDE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800" i="1">
                            <a:solidFill>
                              <a:srgbClr val="F2EDE4"/>
                            </a:solidFill>
                            <a:latin typeface="Cambria Math" panose="02040503050406030204" pitchFamily="18" charset="0"/>
                          </a:rPr>
                          <m:t>𝒮</m:t>
                        </m:r>
                      </m:e>
                      <m:sub>
                        <m:sSub>
                          <m:sSubPr>
                            <m:ctrlPr>
                              <a:rPr lang="en-AU" sz="2800" b="0" i="1" smtClean="0">
                                <a:solidFill>
                                  <a:srgbClr val="F2EDE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AU" sz="2800" b="0" i="1" smtClean="0">
                                <a:solidFill>
                                  <a:srgbClr val="F2EDE4"/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e>
                          <m:sub>
                            <m:r>
                              <a:rPr lang="en-AU" sz="2800" i="1">
                                <a:solidFill>
                                  <a:srgbClr val="F2EDE4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sub>
                        </m:sSub>
                      </m:sub>
                    </m:sSub>
                  </m:oMath>
                </a14:m>
                <a:endParaRPr lang="en-AU" sz="2800" dirty="0">
                  <a:solidFill>
                    <a:srgbClr val="F2EDE4"/>
                  </a:solidFill>
                </a:endParaRPr>
              </a:p>
              <a:p>
                <a:pPr>
                  <a:spcAft>
                    <a:spcPts val="1200"/>
                  </a:spcAft>
                  <a:buSzPct val="100000"/>
                </a:pPr>
                <a:r>
                  <a:rPr lang="en-AU" sz="2800" dirty="0">
                    <a:solidFill>
                      <a:srgbClr val="F2EDE4"/>
                    </a:solidFill>
                  </a:rPr>
                  <a:t>While </a:t>
                </a:r>
                <a14:m>
                  <m:oMath xmlns:m="http://schemas.openxmlformats.org/officeDocument/2006/math">
                    <m:r>
                      <a:rPr lang="en-AU" sz="2800" i="1" smtClean="0">
                        <a:solidFill>
                          <a:srgbClr val="F2EDE4"/>
                        </a:solidFill>
                        <a:latin typeface="Cambria Math" panose="02040503050406030204" pitchFamily="18" charset="0"/>
                      </a:rPr>
                      <m:t> </m:t>
                    </m:r>
                    <m:sSub>
                      <m:sSubPr>
                        <m:ctrlPr>
                          <a:rPr lang="en-AU" sz="2800" i="1">
                            <a:solidFill>
                              <a:srgbClr val="F2EDE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800" i="1">
                            <a:solidFill>
                              <a:srgbClr val="F2EDE4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AU" sz="2800" i="1">
                            <a:solidFill>
                              <a:srgbClr val="F2EDE4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sub>
                    </m:sSub>
                    <m:r>
                      <a:rPr lang="en-AU" sz="2800" i="1">
                        <a:solidFill>
                          <a:srgbClr val="F2EDE4"/>
                        </a:solidFill>
                        <a:latin typeface="Cambria Math" panose="02040503050406030204" pitchFamily="18" charset="0"/>
                      </a:rPr>
                      <m:t>&gt;0:</m:t>
                    </m:r>
                  </m:oMath>
                </a14:m>
                <a:endParaRPr lang="en-AU" sz="2800" dirty="0">
                  <a:solidFill>
                    <a:srgbClr val="F2EDE4"/>
                  </a:solidFill>
                </a:endParaRPr>
              </a:p>
              <a:p>
                <a:pPr>
                  <a:spcAft>
                    <a:spcPts val="1200"/>
                  </a:spcAft>
                  <a:buSzPct val="100000"/>
                </a:pPr>
                <a:r>
                  <a:rPr lang="en-AU" sz="2800" dirty="0">
                    <a:solidFill>
                      <a:srgbClr val="F2EDE4"/>
                    </a:solidFill>
                  </a:rPr>
                  <a:t>	run PGD inner loop </a:t>
                </a:r>
                <a14:m>
                  <m:oMath xmlns:m="http://schemas.openxmlformats.org/officeDocument/2006/math">
                    <m:r>
                      <a:rPr lang="en-AU" sz="2800" i="1">
                        <a:solidFill>
                          <a:srgbClr val="F2EDE4"/>
                        </a:solidFill>
                        <a:latin typeface="Cambria Math" panose="02040503050406030204" pitchFamily="18" charset="0"/>
                      </a:rPr>
                      <m:t>→</m:t>
                    </m:r>
                    <m:acc>
                      <m:accPr>
                        <m:chr m:val="̂"/>
                        <m:ctrlPr>
                          <a:rPr lang="en-AU" sz="2800" i="1">
                            <a:solidFill>
                              <a:srgbClr val="F2EDE4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AU" sz="2800" i="1">
                            <a:solidFill>
                              <a:srgbClr val="F2EDE4"/>
                            </a:solidFill>
                            <a:latin typeface="Cambria Math" panose="02040503050406030204" pitchFamily="18" charset="0"/>
                          </a:rPr>
                          <m:t>𝐳</m:t>
                        </m:r>
                      </m:e>
                    </m:acc>
                  </m:oMath>
                </a14:m>
                <a:endParaRPr lang="en-AU" sz="2800" dirty="0">
                  <a:solidFill>
                    <a:srgbClr val="F2EDE4"/>
                  </a:solidFill>
                </a:endParaRPr>
              </a:p>
              <a:p>
                <a:pPr>
                  <a:spcAft>
                    <a:spcPts val="1200"/>
                  </a:spcAft>
                  <a:buSzPct val="100000"/>
                </a:pPr>
                <a:r>
                  <a:rPr lang="en-AU" sz="2800" dirty="0">
                    <a:solidFill>
                      <a:srgbClr val="F2EDE4"/>
                    </a:solidFill>
                  </a:rPr>
                  <a:t>	</a:t>
                </a:r>
                <a:r>
                  <a:rPr lang="en-AU" sz="2800" dirty="0">
                    <a:solidFill>
                      <a:srgbClr val="D4621A"/>
                    </a:solidFill>
                  </a:rPr>
                  <a:t>round: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AU" sz="2800" i="1">
                            <a:solidFill>
                              <a:srgbClr val="D4621A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AU" sz="2800" i="1">
                            <a:solidFill>
                              <a:srgbClr val="D4621A"/>
                            </a:solidFill>
                            <a:latin typeface="Cambria Math" panose="02040503050406030204" pitchFamily="18" charset="0"/>
                          </a:rPr>
                          <m:t>𝐳</m:t>
                        </m:r>
                      </m:e>
                    </m:acc>
                    <m:r>
                      <a:rPr lang="en-AU" sz="2800" i="1">
                        <a:solidFill>
                          <a:srgbClr val="D4621A"/>
                        </a:solidFill>
                        <a:latin typeface="Cambria Math" panose="02040503050406030204" pitchFamily="18" charset="0"/>
                      </a:rPr>
                      <m:t>←2</m:t>
                    </m:r>
                    <m:r>
                      <a:rPr lang="en-AU" sz="2800" i="1">
                        <a:solidFill>
                          <a:srgbClr val="D4621A"/>
                        </a:solidFill>
                        <a:latin typeface="Cambria Math" panose="02040503050406030204" pitchFamily="18" charset="0"/>
                      </a:rPr>
                      <m:t>𝜆</m:t>
                    </m:r>
                    <m:d>
                      <m:dPr>
                        <m:begChr m:val="⌈"/>
                        <m:endChr m:val="⌉"/>
                        <m:ctrlPr>
                          <a:rPr lang="en-AU" sz="2800" i="1">
                            <a:solidFill>
                              <a:srgbClr val="D4621A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AU" sz="2800" i="1">
                                <a:solidFill>
                                  <a:srgbClr val="D4621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begChr m:val="⌊"/>
                                <m:endChr m:val="⌋"/>
                                <m:ctrlPr>
                                  <a:rPr lang="en-AU" sz="2800" i="1">
                                    <a:solidFill>
                                      <a:srgbClr val="D4621A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AU" sz="2800" i="1">
                                        <a:solidFill>
                                          <a:srgbClr val="D4621A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AU" sz="2800" i="1">
                                        <a:solidFill>
                                          <a:srgbClr val="D4621A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𝐳</m:t>
                                    </m:r>
                                  </m:e>
                                </m:acc>
                                <m:r>
                                  <m:rPr>
                                    <m:lit/>
                                  </m:rPr>
                                  <a:rPr lang="en-AU" sz="2800" i="1">
                                    <a:solidFill>
                                      <a:srgbClr val="D4621A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AU" sz="2800" i="1">
                                    <a:solidFill>
                                      <a:srgbClr val="D4621A"/>
                                    </a:solidFill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</m:d>
                          </m:num>
                          <m:den>
                            <m:r>
                              <a:rPr lang="en-AU" sz="2800" i="1">
                                <a:solidFill>
                                  <a:srgbClr val="D4621A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endParaRPr lang="en-AU" sz="2800" dirty="0">
                  <a:solidFill>
                    <a:srgbClr val="F2EDE4"/>
                  </a:solidFill>
                </a:endParaRPr>
              </a:p>
              <a:p>
                <a:pPr>
                  <a:spcAft>
                    <a:spcPts val="1200"/>
                  </a:spcAft>
                  <a:buSzPct val="100000"/>
                </a:pPr>
                <a:r>
                  <a:rPr lang="en-AU" sz="2800" dirty="0">
                    <a:solidFill>
                      <a:srgbClr val="F2EDE4"/>
                    </a:solidFill>
                  </a:rPr>
                  <a:t>	update: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AU" sz="2800" i="1">
                            <a:solidFill>
                              <a:srgbClr val="F2EDE4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AU" sz="2800" i="1">
                            <a:solidFill>
                              <a:srgbClr val="F2EDE4"/>
                            </a:solidFill>
                            <a:latin typeface="Cambria Math" panose="02040503050406030204" pitchFamily="18" charset="0"/>
                          </a:rPr>
                          <m:t>𝐟</m:t>
                        </m:r>
                      </m:e>
                    </m:acc>
                    <m:r>
                      <a:rPr lang="en-AU" sz="2800" i="1">
                        <a:solidFill>
                          <a:srgbClr val="F2EDE4"/>
                        </a:solidFill>
                        <a:latin typeface="Cambria Math" panose="02040503050406030204" pitchFamily="18" charset="0"/>
                      </a:rPr>
                      <m:t>←</m:t>
                    </m:r>
                    <m:acc>
                      <m:accPr>
                        <m:chr m:val="̂"/>
                        <m:ctrlPr>
                          <a:rPr lang="en-AU" sz="2800" i="1">
                            <a:solidFill>
                              <a:srgbClr val="F2EDE4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AU" sz="2800" i="1">
                            <a:solidFill>
                              <a:srgbClr val="F2EDE4"/>
                            </a:solidFill>
                            <a:latin typeface="Cambria Math" panose="02040503050406030204" pitchFamily="18" charset="0"/>
                          </a:rPr>
                          <m:t>𝐟</m:t>
                        </m:r>
                      </m:e>
                    </m:acc>
                    <m:r>
                      <a:rPr lang="en-AU" sz="2800" i="1">
                        <a:solidFill>
                          <a:srgbClr val="F2EDE4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̂"/>
                        <m:ctrlPr>
                          <a:rPr lang="en-AU" sz="2800" i="1">
                            <a:solidFill>
                              <a:srgbClr val="F2EDE4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AU" sz="2800" i="1">
                            <a:solidFill>
                              <a:srgbClr val="F2EDE4"/>
                            </a:solidFill>
                            <a:latin typeface="Cambria Math" panose="02040503050406030204" pitchFamily="18" charset="0"/>
                          </a:rPr>
                          <m:t>𝐳</m:t>
                        </m:r>
                      </m:e>
                    </m:acc>
                  </m:oMath>
                </a14:m>
                <a:endParaRPr lang="en-AU" sz="2800" dirty="0">
                  <a:solidFill>
                    <a:srgbClr val="F2EDE4"/>
                  </a:solidFill>
                </a:endParaRPr>
              </a:p>
              <a:p>
                <a:pPr>
                  <a:spcAft>
                    <a:spcPts val="1200"/>
                  </a:spcAft>
                  <a:buSzPct val="100000"/>
                </a:pPr>
                <a:r>
                  <a:rPr lang="en-AU" sz="2800" dirty="0">
                    <a:solidFill>
                      <a:srgbClr val="F2EDE4"/>
                    </a:solidFill>
                  </a:rPr>
                  <a:t>	</a:t>
                </a:r>
                <a:r>
                  <a:rPr lang="en-AU" sz="2800" dirty="0">
                    <a:solidFill>
                      <a:srgbClr val="D4621A"/>
                    </a:solidFill>
                  </a:rPr>
                  <a:t>shrink: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>
                            <a:solidFill>
                              <a:srgbClr val="D4621A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>
                            <a:solidFill>
                              <a:srgbClr val="D4621A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pt-BR" sz="2800" i="1">
                            <a:solidFill>
                              <a:srgbClr val="D4621A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sub>
                    </m:sSub>
                    <m:r>
                      <a:rPr lang="pt-BR" sz="2800" i="1">
                        <a:solidFill>
                          <a:srgbClr val="D4621A"/>
                        </a:solidFill>
                        <a:latin typeface="Cambria Math" panose="02040503050406030204" pitchFamily="18" charset="0"/>
                      </a:rPr>
                      <m:t>←</m:t>
                    </m:r>
                    <m:sSub>
                      <m:sSubPr>
                        <m:ctrlPr>
                          <a:rPr lang="pt-BR" sz="2800" i="1">
                            <a:solidFill>
                              <a:srgbClr val="D4621A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>
                            <a:solidFill>
                              <a:srgbClr val="D4621A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pt-BR" sz="2800" i="1">
                            <a:solidFill>
                              <a:srgbClr val="D4621A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sub>
                    </m:sSub>
                    <m:r>
                      <a:rPr lang="pt-BR" sz="2800" i="1">
                        <a:solidFill>
                          <a:srgbClr val="D4621A"/>
                        </a:solidFill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endParaRPr lang="en-AU" sz="2800" dirty="0">
                  <a:solidFill>
                    <a:srgbClr val="D4621A"/>
                  </a:solidFill>
                </a:endParaRPr>
              </a:p>
              <a:p>
                <a:pPr>
                  <a:spcAft>
                    <a:spcPts val="1200"/>
                  </a:spcAft>
                  <a:buSzPct val="100000"/>
                </a:pPr>
                <a:r>
                  <a:rPr lang="en-AU" sz="2800" dirty="0">
                    <a:solidFill>
                      <a:srgbClr val="F2EDE4"/>
                    </a:solidFill>
                  </a:rPr>
                  <a:t>Output:</a:t>
                </a:r>
                <a14:m>
                  <m:oMath xmlns:m="http://schemas.openxmlformats.org/officeDocument/2006/math">
                    <m:r>
                      <a:rPr lang="en-AU" sz="2800" b="0" i="0" smtClean="0">
                        <a:solidFill>
                          <a:srgbClr val="F2EDE4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800" i="1" smtClean="0">
                        <a:solidFill>
                          <a:srgbClr val="F2EDE4"/>
                        </a:solidFill>
                        <a:latin typeface="Cambria Math" panose="02040503050406030204" pitchFamily="18" charset="0"/>
                      </a:rPr>
                      <m:t>𝐟</m:t>
                    </m:r>
                    <m:r>
                      <a:rPr lang="en-AU" sz="2800" i="1" smtClean="0">
                        <a:solidFill>
                          <a:srgbClr val="F2EDE4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̂"/>
                        <m:ctrlPr>
                          <a:rPr lang="en-AU" sz="2800" i="1">
                            <a:solidFill>
                              <a:srgbClr val="F2EDE4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AU" sz="2800" i="1">
                            <a:solidFill>
                              <a:srgbClr val="F2EDE4"/>
                            </a:solidFill>
                            <a:latin typeface="Cambria Math" panose="02040503050406030204" pitchFamily="18" charset="0"/>
                          </a:rPr>
                          <m:t>𝐟</m:t>
                        </m:r>
                      </m:e>
                    </m:acc>
                  </m:oMath>
                </a14:m>
                <a:endParaRPr lang="en-AU" sz="2800" dirty="0">
                  <a:solidFill>
                    <a:srgbClr val="F2EDE4"/>
                  </a:solidFill>
                </a:endParaRPr>
              </a:p>
            </p:txBody>
          </p:sp>
        </mc:Choice>
        <mc:Fallback xmlns="">
          <p:sp>
            <p:nvSpPr>
              <p:cNvPr id="16" name="Text 1">
                <a:extLst>
                  <a:ext uri="{FF2B5EF4-FFF2-40B4-BE49-F238E27FC236}">
                    <a16:creationId xmlns:a16="http://schemas.microsoft.com/office/drawing/2014/main" id="{2EA74E00-4961-78A4-053F-441261A2D2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" y="1737360"/>
                <a:ext cx="4960620" cy="4114800"/>
              </a:xfrm>
              <a:prstGeom prst="rect">
                <a:avLst/>
              </a:prstGeom>
              <a:blipFill>
                <a:blip r:embed="rId3"/>
                <a:stretch>
                  <a:fillRect l="-2457" b="-10370"/>
                </a:stretch>
              </a:blipFill>
              <a:ln/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3165CCAA-E02E-9810-A233-CE871CD2DB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0820" y="2575565"/>
            <a:ext cx="4960620" cy="2438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17733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1C6501-44F6-29F8-4C5B-479C693D0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8EFC355-E711-2962-21DD-42CC5AF6EE33}"/>
              </a:ext>
            </a:extLst>
          </p:cNvPr>
          <p:cNvSpPr/>
          <p:nvPr/>
        </p:nvSpPr>
        <p:spPr>
          <a:xfrm>
            <a:off x="640080" y="5486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AU" sz="3200" b="1" dirty="0">
                <a:solidFill>
                  <a:srgbClr val="F2EDE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Full B2R2 Implementation</a:t>
            </a:r>
          </a:p>
          <a:p>
            <a:pPr marL="0" indent="0">
              <a:buNone/>
            </a:pPr>
            <a:r>
              <a:rPr lang="en-AU" sz="1600" noProof="0" dirty="0">
                <a:solidFill>
                  <a:srgbClr val="C49A45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Set-up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480ECD-8C32-F7D7-1C43-11F86567CC7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75737" y="1753840"/>
            <a:ext cx="9440526" cy="4720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25951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764F9F-CC69-7DAE-0ECB-272E6443EF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D8DB6CE-F308-85EC-AE8E-E8D11A5B4B7C}"/>
              </a:ext>
            </a:extLst>
          </p:cNvPr>
          <p:cNvSpPr/>
          <p:nvPr/>
        </p:nvSpPr>
        <p:spPr>
          <a:xfrm>
            <a:off x="640080" y="5486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AU" sz="3200" b="1" dirty="0">
                <a:solidFill>
                  <a:srgbClr val="F2EDE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Full B2R2 Implementation</a:t>
            </a:r>
          </a:p>
          <a:p>
            <a:pPr marL="0" indent="0">
              <a:buNone/>
            </a:pPr>
            <a:r>
              <a:rPr lang="en-AU" sz="1600" noProof="0" dirty="0">
                <a:solidFill>
                  <a:srgbClr val="C49A45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Set-up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8AB8B8-6CD4-646D-FED8-5FB1BA14C7B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75737" y="1753840"/>
            <a:ext cx="9440526" cy="4720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91386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963C02-3082-4240-2991-0E19430E8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02BD122-7B09-23E8-420C-DD2F7A29527F}"/>
              </a:ext>
            </a:extLst>
          </p:cNvPr>
          <p:cNvSpPr/>
          <p:nvPr/>
        </p:nvSpPr>
        <p:spPr>
          <a:xfrm>
            <a:off x="640080" y="5486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AU" sz="3200" b="1" dirty="0">
                <a:solidFill>
                  <a:srgbClr val="F2EDE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Full B2R2 Implementation</a:t>
            </a:r>
          </a:p>
          <a:p>
            <a:pPr marL="0" indent="0">
              <a:buNone/>
            </a:pPr>
            <a:r>
              <a:rPr lang="en-AU" sz="1600" noProof="0" dirty="0">
                <a:solidFill>
                  <a:srgbClr val="C49A45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Set-up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4492CF-4C88-8A1F-2039-2E002782908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75738" y="1753840"/>
            <a:ext cx="9440524" cy="4720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28989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9F3237-F3C6-FEF7-BCAC-60CFDA0E2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595D36D-C36B-2376-ED6E-BF9E19A71BB9}"/>
              </a:ext>
            </a:extLst>
          </p:cNvPr>
          <p:cNvSpPr/>
          <p:nvPr/>
        </p:nvSpPr>
        <p:spPr>
          <a:xfrm>
            <a:off x="640080" y="5486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AU" sz="3200" b="1" dirty="0">
                <a:solidFill>
                  <a:srgbClr val="F2EDE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Full B2R2 Implementation</a:t>
            </a:r>
          </a:p>
          <a:p>
            <a:pPr marL="0" indent="0">
              <a:buNone/>
            </a:pPr>
            <a:r>
              <a:rPr lang="en-AU" sz="1600" noProof="0" dirty="0">
                <a:solidFill>
                  <a:srgbClr val="C49A45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Set-up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B859B6-3E8D-9BBD-AADD-048BB827396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75738" y="1753840"/>
            <a:ext cx="9440524" cy="4720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27328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01BCCD-1F77-F74F-365C-05A0FBBB10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3148911-2A6C-74E7-8284-904ED6BDDAE4}"/>
              </a:ext>
            </a:extLst>
          </p:cNvPr>
          <p:cNvSpPr/>
          <p:nvPr/>
        </p:nvSpPr>
        <p:spPr>
          <a:xfrm>
            <a:off x="640080" y="5486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AU" sz="3200" b="1" dirty="0">
                <a:solidFill>
                  <a:srgbClr val="F2EDE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Full B2R2 Implementation</a:t>
            </a:r>
          </a:p>
          <a:p>
            <a:pPr marL="0" indent="0">
              <a:buNone/>
            </a:pPr>
            <a:r>
              <a:rPr lang="en-AU" sz="1600" noProof="0" dirty="0">
                <a:solidFill>
                  <a:srgbClr val="C49A45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Set-up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D7F87F-6FCB-457B-608B-9AE70E76767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75739" y="1753840"/>
            <a:ext cx="9440522" cy="4720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02406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E3E8CA-D3FC-E088-8046-B449ECAA5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D99F822-A79A-3F9C-5949-1FD260A7202C}"/>
              </a:ext>
            </a:extLst>
          </p:cNvPr>
          <p:cNvSpPr/>
          <p:nvPr/>
        </p:nvSpPr>
        <p:spPr>
          <a:xfrm>
            <a:off x="640080" y="5486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AU" sz="3200" b="1" dirty="0">
                <a:solidFill>
                  <a:srgbClr val="F2EDE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Full B2R2 Implementation</a:t>
            </a:r>
          </a:p>
          <a:p>
            <a:pPr marL="0" indent="0">
              <a:buNone/>
            </a:pPr>
            <a:r>
              <a:rPr lang="en-AU" sz="1600" noProof="0" dirty="0">
                <a:solidFill>
                  <a:srgbClr val="C49A45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Set-up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EF27F2-62D9-BA2B-798F-964EDD5E7E2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75739" y="1753840"/>
            <a:ext cx="9440522" cy="4720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19452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9E69D-732A-2F26-E664-2A20A800E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D29B960-D726-A6A4-BAE7-11486F4B3977}"/>
              </a:ext>
            </a:extLst>
          </p:cNvPr>
          <p:cNvSpPr/>
          <p:nvPr/>
        </p:nvSpPr>
        <p:spPr>
          <a:xfrm>
            <a:off x="640080" y="5486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AU" sz="3200" b="1" dirty="0">
                <a:solidFill>
                  <a:srgbClr val="F2EDE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Full B2R2 Implementation</a:t>
            </a:r>
          </a:p>
          <a:p>
            <a:pPr marL="0" indent="0">
              <a:buNone/>
            </a:pPr>
            <a:r>
              <a:rPr lang="en-AU" sz="1600" noProof="0" dirty="0">
                <a:solidFill>
                  <a:srgbClr val="C49A45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Set-up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C73B72-712D-C8EC-2BFD-7DB9F12DA7F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75740" y="1753840"/>
            <a:ext cx="9440520" cy="4720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49560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FD4923-FFC4-F4D7-A597-7CB155C4D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A5694C5-079D-C22C-E07D-F1292A3B5D69}"/>
              </a:ext>
            </a:extLst>
          </p:cNvPr>
          <p:cNvSpPr/>
          <p:nvPr/>
        </p:nvSpPr>
        <p:spPr>
          <a:xfrm>
            <a:off x="640080" y="5486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AU" sz="3200" b="1" dirty="0">
                <a:solidFill>
                  <a:srgbClr val="F2EDE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B2R2 vs Matrix Inversion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7A3D43D-9BF6-01D6-B968-56B3C7540A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57648"/>
            <a:ext cx="12192000" cy="4685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4298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20F274-2DA3-05A4-879D-809210585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82639A1-C463-A331-8CFF-AAB6AC885729}"/>
              </a:ext>
            </a:extLst>
          </p:cNvPr>
          <p:cNvSpPr/>
          <p:nvPr/>
        </p:nvSpPr>
        <p:spPr>
          <a:xfrm>
            <a:off x="640080" y="5486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AU" sz="3200" b="1" noProof="0" dirty="0">
                <a:solidFill>
                  <a:srgbClr val="F2EDE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Comparison between Operators</a:t>
            </a:r>
          </a:p>
          <a:p>
            <a:pPr marL="0" indent="0">
              <a:buNone/>
            </a:pPr>
            <a:endParaRPr lang="en-AU" sz="1600" noProof="0" dirty="0">
              <a:solidFill>
                <a:srgbClr val="C49A45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5AE5B6-5020-4F20-FEB4-37C3857674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57635"/>
            <a:ext cx="12192000" cy="3509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77629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780095-62B1-74B9-41E6-E52F5390A2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9DF0760-EC26-D2EA-3C2F-E243DCAB21A0}"/>
              </a:ext>
            </a:extLst>
          </p:cNvPr>
          <p:cNvSpPr/>
          <p:nvPr/>
        </p:nvSpPr>
        <p:spPr>
          <a:xfrm>
            <a:off x="640080" y="5486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AU" sz="3200" b="1" dirty="0">
                <a:solidFill>
                  <a:srgbClr val="F2EDE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Comparison between Operators</a:t>
            </a:r>
          </a:p>
          <a:p>
            <a:pPr marL="0" indent="0">
              <a:buNone/>
            </a:pPr>
            <a:endParaRPr lang="en-AU" sz="1600" noProof="0" dirty="0">
              <a:solidFill>
                <a:srgbClr val="C49A45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422A4E-902B-8B2B-5288-D99C8E5BC8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64642"/>
            <a:ext cx="12192000" cy="3509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04991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368DC2-CFAA-962C-F3DD-B3002FF7E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DE8CACA-7BD3-6CB3-4457-432F7F554702}"/>
              </a:ext>
            </a:extLst>
          </p:cNvPr>
          <p:cNvSpPr/>
          <p:nvPr/>
        </p:nvSpPr>
        <p:spPr>
          <a:xfrm>
            <a:off x="640080" y="5486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AU" sz="3200" b="1" noProof="0" dirty="0">
                <a:solidFill>
                  <a:srgbClr val="F2EDE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Conclusion and Next Steps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 1">
                <a:extLst>
                  <a:ext uri="{FF2B5EF4-FFF2-40B4-BE49-F238E27FC236}">
                    <a16:creationId xmlns:a16="http://schemas.microsoft.com/office/drawing/2014/main" id="{859A2665-E09F-93BF-AA5B-24662E9BBEDD}"/>
                  </a:ext>
                </a:extLst>
              </p:cNvPr>
              <p:cNvSpPr/>
              <p:nvPr/>
            </p:nvSpPr>
            <p:spPr>
              <a:xfrm>
                <a:off x="640080" y="1737360"/>
                <a:ext cx="10278012" cy="4114800"/>
              </a:xfrm>
              <a:prstGeom prst="rect">
                <a:avLst/>
              </a:prstGeom>
              <a:noFill/>
              <a:ln/>
            </p:spPr>
            <p:txBody>
              <a:bodyPr wrap="square" rtlCol="0" anchor="t"/>
              <a:lstStyle/>
              <a:p>
                <a:pPr marL="457200" indent="-457200">
                  <a:spcAft>
                    <a:spcPts val="1200"/>
                  </a:spcAft>
                  <a:buSzPct val="100000"/>
                  <a:buFont typeface="Arial" panose="020B0604020202020204" pitchFamily="34" charset="0"/>
                  <a:buChar char="•"/>
                </a:pPr>
                <a:r>
                  <a:rPr lang="en-US" sz="2800" dirty="0">
                    <a:solidFill>
                      <a:srgbClr val="F2EDE4"/>
                    </a:solidFill>
                  </a:rPr>
                  <a:t>The B2R2 algorithm can reconstruct a signal to machine precision at just an OF = 2 (for modulo and mu-law modulo)</a:t>
                </a:r>
              </a:p>
              <a:p>
                <a:pPr marL="457200" indent="-457200">
                  <a:spcAft>
                    <a:spcPts val="1200"/>
                  </a:spcAft>
                  <a:buSzPct val="100000"/>
                  <a:buFont typeface="Arial" panose="020B0604020202020204" pitchFamily="34" charset="0"/>
                  <a:buChar char="•"/>
                </a:pPr>
                <a:r>
                  <a:rPr lang="en-AU" sz="2800" dirty="0">
                    <a:solidFill>
                      <a:srgbClr val="F2EDE4"/>
                    </a:solidFill>
                  </a:rPr>
                  <a:t>Test for robustness against noise</a:t>
                </a:r>
              </a:p>
              <a:p>
                <a:pPr marL="457200" indent="-457200">
                  <a:spcAft>
                    <a:spcPts val="1200"/>
                  </a:spcAft>
                  <a:buSzPct val="100000"/>
                  <a:buFont typeface="Arial" panose="020B0604020202020204" pitchFamily="34" charset="0"/>
                  <a:buChar char="•"/>
                </a:pPr>
                <a:r>
                  <a:rPr lang="en-AU" sz="2800" dirty="0">
                    <a:solidFill>
                      <a:srgbClr val="F2EDE4"/>
                    </a:solidFill>
                  </a:rPr>
                  <a:t>Estimate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>
                            <a:solidFill>
                              <a:srgbClr val="F2EDE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800" i="1">
                            <a:solidFill>
                              <a:srgbClr val="F2EDE4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AU" sz="2800" i="1">
                            <a:solidFill>
                              <a:srgbClr val="F2EDE4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sub>
                    </m:sSub>
                  </m:oMath>
                </a14:m>
                <a:endParaRPr lang="en-AU" sz="2800" dirty="0">
                  <a:solidFill>
                    <a:srgbClr val="F2EDE4"/>
                  </a:solidFill>
                </a:endParaRPr>
              </a:p>
            </p:txBody>
          </p:sp>
        </mc:Choice>
        <mc:Fallback xmlns="">
          <p:sp>
            <p:nvSpPr>
              <p:cNvPr id="16" name="Text 1">
                <a:extLst>
                  <a:ext uri="{FF2B5EF4-FFF2-40B4-BE49-F238E27FC236}">
                    <a16:creationId xmlns:a16="http://schemas.microsoft.com/office/drawing/2014/main" id="{859A2665-E09F-93BF-AA5B-24662E9BBED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" y="1737360"/>
                <a:ext cx="10278012" cy="4114800"/>
              </a:xfrm>
              <a:prstGeom prst="rect">
                <a:avLst/>
              </a:prstGeom>
              <a:blipFill>
                <a:blip r:embed="rId3"/>
                <a:stretch>
                  <a:fillRect l="-1111" t="-1538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459124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834640"/>
            <a:ext cx="502920" cy="502920"/>
          </a:xfrm>
          <a:prstGeom prst="rect">
            <a:avLst/>
          </a:prstGeom>
          <a:solidFill>
            <a:srgbClr val="D4621A"/>
          </a:solidFill>
          <a:ln/>
        </p:spPr>
        <p:txBody>
          <a:bodyPr/>
          <a:lstStyle/>
          <a:p>
            <a:endParaRPr lang="en-AU" noProof="0" dirty="0"/>
          </a:p>
        </p:txBody>
      </p:sp>
      <p:sp>
        <p:nvSpPr>
          <p:cNvPr id="3" name="Shape 1"/>
          <p:cNvSpPr/>
          <p:nvPr/>
        </p:nvSpPr>
        <p:spPr>
          <a:xfrm>
            <a:off x="1234440" y="2834640"/>
            <a:ext cx="502920" cy="502920"/>
          </a:xfrm>
          <a:prstGeom prst="rect">
            <a:avLst/>
          </a:prstGeom>
          <a:solidFill>
            <a:srgbClr val="C49A45"/>
          </a:solidFill>
          <a:ln/>
        </p:spPr>
        <p:txBody>
          <a:bodyPr/>
          <a:lstStyle/>
          <a:p>
            <a:endParaRPr lang="en-AU" noProof="0" dirty="0"/>
          </a:p>
        </p:txBody>
      </p:sp>
      <p:sp>
        <p:nvSpPr>
          <p:cNvPr id="4" name="Text 2"/>
          <p:cNvSpPr/>
          <p:nvPr/>
        </p:nvSpPr>
        <p:spPr>
          <a:xfrm>
            <a:off x="640080" y="352044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AU" sz="4800" b="1" noProof="0" dirty="0">
                <a:solidFill>
                  <a:srgbClr val="F2EDE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Thank you</a:t>
            </a:r>
            <a:endParaRPr lang="en-AU" sz="4800" noProof="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640080" y="449884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AU" sz="1400" b="1" noProof="0" dirty="0">
                <a:solidFill>
                  <a:srgbClr val="F2ED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#0D1B2A</a:t>
            </a:r>
            <a:endParaRPr lang="en-AU" sz="1400" noProof="0" dirty="0"/>
          </a:p>
        </p:txBody>
      </p:sp>
      <p:sp>
        <p:nvSpPr>
          <p:cNvPr id="9" name="Text 7"/>
          <p:cNvSpPr/>
          <p:nvPr/>
        </p:nvSpPr>
        <p:spPr>
          <a:xfrm>
            <a:off x="2532888" y="449884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AU" sz="1400" b="1" noProof="0" dirty="0">
                <a:solidFill>
                  <a:srgbClr val="F2ED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#1B2A3B</a:t>
            </a:r>
            <a:endParaRPr lang="en-AU" sz="1400" noProof="0" dirty="0"/>
          </a:p>
        </p:txBody>
      </p:sp>
      <p:sp>
        <p:nvSpPr>
          <p:cNvPr id="12" name="Text 10"/>
          <p:cNvSpPr/>
          <p:nvPr/>
        </p:nvSpPr>
        <p:spPr>
          <a:xfrm>
            <a:off x="4425696" y="449884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AU" sz="1400" b="1" noProof="0" dirty="0">
                <a:solidFill>
                  <a:srgbClr val="F2ED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#E8DCC8</a:t>
            </a:r>
            <a:endParaRPr lang="en-AU" sz="1400" noProof="0" dirty="0"/>
          </a:p>
        </p:txBody>
      </p:sp>
      <p:sp>
        <p:nvSpPr>
          <p:cNvPr id="15" name="Text 13"/>
          <p:cNvSpPr/>
          <p:nvPr/>
        </p:nvSpPr>
        <p:spPr>
          <a:xfrm>
            <a:off x="6318504" y="449884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AU" sz="1400" b="1" noProof="0" dirty="0">
                <a:solidFill>
                  <a:srgbClr val="F2ED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#D4621A</a:t>
            </a:r>
            <a:endParaRPr lang="en-AU" sz="1400" noProof="0" dirty="0"/>
          </a:p>
        </p:txBody>
      </p:sp>
      <p:sp>
        <p:nvSpPr>
          <p:cNvPr id="18" name="Text 16"/>
          <p:cNvSpPr/>
          <p:nvPr/>
        </p:nvSpPr>
        <p:spPr>
          <a:xfrm>
            <a:off x="8211312" y="449884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AU" sz="1400" b="1" noProof="0" dirty="0">
                <a:solidFill>
                  <a:srgbClr val="F2ED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#C49A45</a:t>
            </a:r>
            <a:endParaRPr lang="en-AU" sz="1400" noProof="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7FB0599-9AD7-88CD-1F86-EB7F9FA297E3}"/>
              </a:ext>
            </a:extLst>
          </p:cNvPr>
          <p:cNvGrpSpPr/>
          <p:nvPr/>
        </p:nvGrpSpPr>
        <p:grpSpPr>
          <a:xfrm>
            <a:off x="640080" y="2194560"/>
            <a:ext cx="11155680" cy="2194560"/>
            <a:chOff x="640080" y="2194560"/>
            <a:chExt cx="11155680" cy="2194560"/>
          </a:xfrm>
        </p:grpSpPr>
        <p:sp>
          <p:nvSpPr>
            <p:cNvPr id="4" name="Shape 2"/>
            <p:cNvSpPr/>
            <p:nvPr/>
          </p:nvSpPr>
          <p:spPr>
            <a:xfrm>
              <a:off x="640080" y="2194560"/>
              <a:ext cx="1691640" cy="2194560"/>
            </a:xfrm>
            <a:prstGeom prst="rect">
              <a:avLst/>
            </a:prstGeom>
            <a:solidFill>
              <a:srgbClr val="0D1B2A"/>
            </a:solidFill>
            <a:ln w="12700">
              <a:solidFill>
                <a:srgbClr val="1B2A3B"/>
              </a:solidFill>
              <a:prstDash val="solid"/>
            </a:ln>
          </p:spPr>
          <p:txBody>
            <a:bodyPr/>
            <a:lstStyle/>
            <a:p>
              <a:endParaRPr lang="en-AU" noProof="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749808" y="2304288"/>
              <a:ext cx="1472184" cy="914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AU" sz="1200" b="1" noProof="0" dirty="0">
                  <a:solidFill>
                    <a:srgbClr val="F2EDE4"/>
                  </a:solidFill>
                  <a:latin typeface="Segoe UI Semibold" pitchFamily="34" charset="0"/>
                  <a:ea typeface="Segoe UI Semibold" pitchFamily="34" charset="-122"/>
                  <a:cs typeface="Segoe UI Semibold" pitchFamily="34" charset="-120"/>
                </a:rPr>
                <a:t>Deep Navy</a:t>
              </a:r>
              <a:endParaRPr lang="en-AU" sz="1200" noProof="0" dirty="0"/>
            </a:p>
            <a:p>
              <a:pPr marL="0" indent="0">
                <a:buNone/>
              </a:pPr>
              <a:r>
                <a:rPr lang="en-AU" sz="1000" noProof="0" dirty="0">
                  <a:solidFill>
                    <a:srgbClr val="F2EDE4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Background</a:t>
              </a:r>
              <a:endParaRPr lang="en-AU" sz="1200" noProof="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2532888" y="2194560"/>
              <a:ext cx="1691640" cy="2194560"/>
            </a:xfrm>
            <a:prstGeom prst="rect">
              <a:avLst/>
            </a:prstGeom>
            <a:solidFill>
              <a:srgbClr val="1B2A3B"/>
            </a:solidFill>
            <a:ln w="12700">
              <a:solidFill>
                <a:srgbClr val="1B2A3B"/>
              </a:solidFill>
              <a:prstDash val="solid"/>
            </a:ln>
          </p:spPr>
          <p:txBody>
            <a:bodyPr/>
            <a:lstStyle/>
            <a:p>
              <a:endParaRPr lang="en-AU" noProof="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2642616" y="2304288"/>
              <a:ext cx="1472184" cy="914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AU" sz="1200" b="1" noProof="0" dirty="0">
                  <a:solidFill>
                    <a:srgbClr val="F2EDE4"/>
                  </a:solidFill>
                  <a:latin typeface="Segoe UI Semibold" pitchFamily="34" charset="0"/>
                  <a:ea typeface="Segoe UI Semibold" pitchFamily="34" charset="-122"/>
                  <a:cs typeface="Segoe UI Semibold" pitchFamily="34" charset="-120"/>
                </a:rPr>
                <a:t>Dark Slate</a:t>
              </a:r>
              <a:endParaRPr lang="en-AU" sz="1200" noProof="0" dirty="0"/>
            </a:p>
            <a:p>
              <a:pPr marL="0" indent="0">
                <a:buNone/>
              </a:pPr>
              <a:r>
                <a:rPr lang="en-AU" sz="1000" noProof="0" dirty="0">
                  <a:solidFill>
                    <a:srgbClr val="F2EDE4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Surface/card</a:t>
              </a:r>
              <a:endParaRPr lang="en-AU" sz="1200" noProof="0" dirty="0"/>
            </a:p>
          </p:txBody>
        </p:sp>
        <p:sp>
          <p:nvSpPr>
            <p:cNvPr id="10" name="Shape 8"/>
            <p:cNvSpPr/>
            <p:nvPr/>
          </p:nvSpPr>
          <p:spPr>
            <a:xfrm>
              <a:off x="4425696" y="2194560"/>
              <a:ext cx="1691640" cy="2194560"/>
            </a:xfrm>
            <a:prstGeom prst="rect">
              <a:avLst/>
            </a:prstGeom>
            <a:solidFill>
              <a:srgbClr val="E8DCC8"/>
            </a:solidFill>
            <a:ln w="12700">
              <a:solidFill>
                <a:srgbClr val="1B2A3B"/>
              </a:solidFill>
              <a:prstDash val="solid"/>
            </a:ln>
          </p:spPr>
          <p:txBody>
            <a:bodyPr/>
            <a:lstStyle/>
            <a:p>
              <a:endParaRPr lang="en-AU" noProof="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4535424" y="2304288"/>
              <a:ext cx="1472184" cy="914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AU" sz="1200" b="1" noProof="0" dirty="0">
                  <a:solidFill>
                    <a:srgbClr val="1A2336"/>
                  </a:solidFill>
                  <a:latin typeface="Segoe UI Semibold" pitchFamily="34" charset="0"/>
                  <a:ea typeface="Segoe UI Semibold" pitchFamily="34" charset="-122"/>
                  <a:cs typeface="Segoe UI Semibold" pitchFamily="34" charset="-120"/>
                </a:rPr>
                <a:t>Warm Sand</a:t>
              </a:r>
              <a:endParaRPr lang="en-AU" sz="1200" noProof="0" dirty="0"/>
            </a:p>
            <a:p>
              <a:pPr marL="0" indent="0">
                <a:buNone/>
              </a:pPr>
              <a:r>
                <a:rPr lang="en-AU" sz="1000" noProof="0" dirty="0">
                  <a:solidFill>
                    <a:srgbClr val="1A2336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Light text</a:t>
              </a:r>
              <a:endParaRPr lang="en-AU" sz="1200" noProof="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6318504" y="2194560"/>
              <a:ext cx="1691640" cy="2194560"/>
            </a:xfrm>
            <a:prstGeom prst="rect">
              <a:avLst/>
            </a:prstGeom>
            <a:solidFill>
              <a:srgbClr val="D4621A"/>
            </a:solidFill>
            <a:ln w="12700">
              <a:solidFill>
                <a:srgbClr val="1B2A3B"/>
              </a:solidFill>
              <a:prstDash val="solid"/>
            </a:ln>
          </p:spPr>
          <p:txBody>
            <a:bodyPr/>
            <a:lstStyle/>
            <a:p>
              <a:endParaRPr lang="en-AU" noProof="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6428232" y="2304288"/>
              <a:ext cx="1472184" cy="914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AU" sz="1200" b="1" noProof="0" dirty="0">
                  <a:solidFill>
                    <a:srgbClr val="F2EDE4"/>
                  </a:solidFill>
                  <a:latin typeface="Segoe UI Semibold" pitchFamily="34" charset="0"/>
                  <a:ea typeface="Segoe UI Semibold" pitchFamily="34" charset="-122"/>
                  <a:cs typeface="Segoe UI Semibold" pitchFamily="34" charset="-120"/>
                </a:rPr>
                <a:t>Burnt Orange</a:t>
              </a:r>
              <a:endParaRPr lang="en-AU" sz="1200" noProof="0" dirty="0"/>
            </a:p>
            <a:p>
              <a:pPr marL="0" indent="0">
                <a:buNone/>
              </a:pPr>
              <a:r>
                <a:rPr lang="en-AU" sz="1000" noProof="0" dirty="0">
                  <a:solidFill>
                    <a:srgbClr val="F2EDE4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Highlight</a:t>
              </a:r>
              <a:endParaRPr lang="en-AU" sz="1200" noProof="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8211312" y="2194560"/>
              <a:ext cx="1691640" cy="2194560"/>
            </a:xfrm>
            <a:prstGeom prst="rect">
              <a:avLst/>
            </a:prstGeom>
            <a:solidFill>
              <a:srgbClr val="C49A45"/>
            </a:solidFill>
            <a:ln w="12700">
              <a:solidFill>
                <a:srgbClr val="1B2A3B"/>
              </a:solidFill>
              <a:prstDash val="solid"/>
            </a:ln>
          </p:spPr>
          <p:txBody>
            <a:bodyPr/>
            <a:lstStyle/>
            <a:p>
              <a:endParaRPr lang="en-AU" noProof="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8321040" y="2304288"/>
              <a:ext cx="1472184" cy="914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AU" sz="1200" b="1" noProof="0" dirty="0">
                  <a:solidFill>
                    <a:srgbClr val="1A2336"/>
                  </a:solidFill>
                  <a:latin typeface="Segoe UI Semibold" pitchFamily="34" charset="0"/>
                  <a:ea typeface="Segoe UI Semibold" pitchFamily="34" charset="-122"/>
                  <a:cs typeface="Segoe UI Semibold" pitchFamily="34" charset="-120"/>
                </a:rPr>
                <a:t>Muted Gold</a:t>
              </a:r>
              <a:endParaRPr lang="en-AU" sz="1200" noProof="0" dirty="0"/>
            </a:p>
            <a:p>
              <a:pPr marL="0" indent="0">
                <a:buNone/>
              </a:pPr>
              <a:r>
                <a:rPr lang="en-AU" sz="1000" noProof="0" dirty="0">
                  <a:solidFill>
                    <a:srgbClr val="1A2336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Subtle accent</a:t>
              </a:r>
              <a:endParaRPr lang="en-AU" sz="1200" noProof="0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10104120" y="2194560"/>
              <a:ext cx="1691640" cy="2194560"/>
            </a:xfrm>
            <a:prstGeom prst="rect">
              <a:avLst/>
            </a:prstGeom>
            <a:solidFill>
              <a:srgbClr val="F2EDE4"/>
            </a:solidFill>
            <a:ln w="12700">
              <a:solidFill>
                <a:srgbClr val="1B2A3B"/>
              </a:solidFill>
              <a:prstDash val="solid"/>
            </a:ln>
          </p:spPr>
          <p:txBody>
            <a:bodyPr/>
            <a:lstStyle/>
            <a:p>
              <a:endParaRPr lang="en-AU" noProof="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10213848" y="2304288"/>
              <a:ext cx="1472184" cy="914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AU" sz="1200" b="1" noProof="0" dirty="0">
                  <a:solidFill>
                    <a:srgbClr val="1A2336"/>
                  </a:solidFill>
                  <a:latin typeface="Segoe UI Semibold" pitchFamily="34" charset="0"/>
                  <a:ea typeface="Segoe UI Semibold" pitchFamily="34" charset="-122"/>
                  <a:cs typeface="Segoe UI Semibold" pitchFamily="34" charset="-120"/>
                </a:rPr>
                <a:t>Off-White</a:t>
              </a:r>
              <a:endParaRPr lang="en-AU" sz="1200" noProof="0" dirty="0"/>
            </a:p>
            <a:p>
              <a:pPr marL="0" indent="0">
                <a:buNone/>
              </a:pPr>
              <a:r>
                <a:rPr lang="en-AU" sz="1000" noProof="0" dirty="0">
                  <a:solidFill>
                    <a:srgbClr val="1A2336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Body text</a:t>
              </a:r>
              <a:endParaRPr lang="en-AU" sz="1200" noProof="0" dirty="0"/>
            </a:p>
          </p:txBody>
        </p:sp>
      </p:grpSp>
      <p:sp>
        <p:nvSpPr>
          <p:cNvPr id="21" name="Text 19"/>
          <p:cNvSpPr/>
          <p:nvPr/>
        </p:nvSpPr>
        <p:spPr>
          <a:xfrm>
            <a:off x="10104120" y="449884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AU" sz="1400" b="1" noProof="0" dirty="0">
                <a:solidFill>
                  <a:srgbClr val="F2ED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#F2EDE4</a:t>
            </a:r>
            <a:endParaRPr lang="en-AU" sz="1400" noProof="0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32994570-7E21-21F9-2255-77E28C6B05C8}"/>
              </a:ext>
            </a:extLst>
          </p:cNvPr>
          <p:cNvGrpSpPr/>
          <p:nvPr/>
        </p:nvGrpSpPr>
        <p:grpSpPr>
          <a:xfrm>
            <a:off x="7800834" y="182880"/>
            <a:ext cx="4204235" cy="992203"/>
            <a:chOff x="640080" y="2194560"/>
            <a:chExt cx="11155680" cy="2194560"/>
          </a:xfrm>
        </p:grpSpPr>
        <p:sp>
          <p:nvSpPr>
            <p:cNvPr id="26" name="Shape 2">
              <a:extLst>
                <a:ext uri="{FF2B5EF4-FFF2-40B4-BE49-F238E27FC236}">
                  <a16:creationId xmlns:a16="http://schemas.microsoft.com/office/drawing/2014/main" id="{1978CBB2-6113-14D6-095B-DCEA02B1E9C3}"/>
                </a:ext>
              </a:extLst>
            </p:cNvPr>
            <p:cNvSpPr/>
            <p:nvPr/>
          </p:nvSpPr>
          <p:spPr>
            <a:xfrm>
              <a:off x="640080" y="2194560"/>
              <a:ext cx="1691640" cy="2194560"/>
            </a:xfrm>
            <a:prstGeom prst="rect">
              <a:avLst/>
            </a:prstGeom>
            <a:solidFill>
              <a:srgbClr val="0D1B2A"/>
            </a:solidFill>
            <a:ln w="12700">
              <a:solidFill>
                <a:srgbClr val="1B2A3B"/>
              </a:solidFill>
              <a:prstDash val="solid"/>
            </a:ln>
          </p:spPr>
          <p:txBody>
            <a:bodyPr/>
            <a:lstStyle/>
            <a:p>
              <a:endParaRPr lang="en-AU" noProof="0" dirty="0"/>
            </a:p>
          </p:txBody>
        </p:sp>
        <p:sp>
          <p:nvSpPr>
            <p:cNvPr id="27" name="Text 3">
              <a:extLst>
                <a:ext uri="{FF2B5EF4-FFF2-40B4-BE49-F238E27FC236}">
                  <a16:creationId xmlns:a16="http://schemas.microsoft.com/office/drawing/2014/main" id="{9F21D60B-0C34-D68F-9A2E-A1946B1787B1}"/>
                </a:ext>
              </a:extLst>
            </p:cNvPr>
            <p:cNvSpPr/>
            <p:nvPr/>
          </p:nvSpPr>
          <p:spPr>
            <a:xfrm>
              <a:off x="749808" y="2304288"/>
              <a:ext cx="1472184" cy="914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AU" sz="800" b="1" noProof="0" dirty="0">
                  <a:solidFill>
                    <a:srgbClr val="F2EDE4"/>
                  </a:solidFill>
                  <a:latin typeface="Segoe UI Semibold" pitchFamily="34" charset="0"/>
                  <a:ea typeface="Segoe UI Semibold" pitchFamily="34" charset="-122"/>
                  <a:cs typeface="Segoe UI Semibold" pitchFamily="34" charset="-120"/>
                </a:rPr>
                <a:t>Deep Navy</a:t>
              </a:r>
              <a:endParaRPr lang="en-AU" sz="800" noProof="0" dirty="0"/>
            </a:p>
            <a:p>
              <a:pPr marL="0" indent="0">
                <a:buNone/>
              </a:pPr>
              <a:r>
                <a:rPr lang="en-AU" sz="500" noProof="0" dirty="0">
                  <a:solidFill>
                    <a:srgbClr val="F2EDE4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Background</a:t>
              </a:r>
              <a:endParaRPr lang="en-AU" sz="800" noProof="0" dirty="0"/>
            </a:p>
          </p:txBody>
        </p:sp>
        <p:sp>
          <p:nvSpPr>
            <p:cNvPr id="28" name="Shape 5">
              <a:extLst>
                <a:ext uri="{FF2B5EF4-FFF2-40B4-BE49-F238E27FC236}">
                  <a16:creationId xmlns:a16="http://schemas.microsoft.com/office/drawing/2014/main" id="{4AF8F357-57D8-C660-40C1-93FB30C110F0}"/>
                </a:ext>
              </a:extLst>
            </p:cNvPr>
            <p:cNvSpPr/>
            <p:nvPr/>
          </p:nvSpPr>
          <p:spPr>
            <a:xfrm>
              <a:off x="2532888" y="2194560"/>
              <a:ext cx="1691640" cy="2194560"/>
            </a:xfrm>
            <a:prstGeom prst="rect">
              <a:avLst/>
            </a:prstGeom>
            <a:solidFill>
              <a:srgbClr val="1B2A3B"/>
            </a:solidFill>
            <a:ln w="12700">
              <a:solidFill>
                <a:srgbClr val="1B2A3B"/>
              </a:solidFill>
              <a:prstDash val="solid"/>
            </a:ln>
          </p:spPr>
          <p:txBody>
            <a:bodyPr/>
            <a:lstStyle/>
            <a:p>
              <a:endParaRPr lang="en-AU" noProof="0" dirty="0"/>
            </a:p>
          </p:txBody>
        </p:sp>
        <p:sp>
          <p:nvSpPr>
            <p:cNvPr id="29" name="Text 6">
              <a:extLst>
                <a:ext uri="{FF2B5EF4-FFF2-40B4-BE49-F238E27FC236}">
                  <a16:creationId xmlns:a16="http://schemas.microsoft.com/office/drawing/2014/main" id="{D17DFC3D-F09F-C77F-10E5-B516F9EB4B84}"/>
                </a:ext>
              </a:extLst>
            </p:cNvPr>
            <p:cNvSpPr/>
            <p:nvPr/>
          </p:nvSpPr>
          <p:spPr>
            <a:xfrm>
              <a:off x="2642616" y="2304288"/>
              <a:ext cx="1472184" cy="914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AU" sz="800" b="1" noProof="0" dirty="0">
                  <a:solidFill>
                    <a:srgbClr val="F2EDE4"/>
                  </a:solidFill>
                  <a:latin typeface="Segoe UI Semibold" pitchFamily="34" charset="0"/>
                  <a:ea typeface="Segoe UI Semibold" pitchFamily="34" charset="-122"/>
                  <a:cs typeface="Segoe UI Semibold" pitchFamily="34" charset="-120"/>
                </a:rPr>
                <a:t>Dark Slate</a:t>
              </a:r>
              <a:endParaRPr lang="en-AU" sz="800" noProof="0" dirty="0"/>
            </a:p>
            <a:p>
              <a:pPr marL="0" indent="0">
                <a:buNone/>
              </a:pPr>
              <a:r>
                <a:rPr lang="en-AU" sz="500" noProof="0" dirty="0">
                  <a:solidFill>
                    <a:srgbClr val="F2EDE4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Surface/card</a:t>
              </a:r>
              <a:endParaRPr lang="en-AU" sz="800" noProof="0" dirty="0"/>
            </a:p>
          </p:txBody>
        </p:sp>
        <p:sp>
          <p:nvSpPr>
            <p:cNvPr id="30" name="Shape 8">
              <a:extLst>
                <a:ext uri="{FF2B5EF4-FFF2-40B4-BE49-F238E27FC236}">
                  <a16:creationId xmlns:a16="http://schemas.microsoft.com/office/drawing/2014/main" id="{0D76E585-22C8-E4F9-5579-114A3D4253E9}"/>
                </a:ext>
              </a:extLst>
            </p:cNvPr>
            <p:cNvSpPr/>
            <p:nvPr/>
          </p:nvSpPr>
          <p:spPr>
            <a:xfrm>
              <a:off x="4425696" y="2194560"/>
              <a:ext cx="1691640" cy="2194560"/>
            </a:xfrm>
            <a:prstGeom prst="rect">
              <a:avLst/>
            </a:prstGeom>
            <a:solidFill>
              <a:srgbClr val="E8DCC8"/>
            </a:solidFill>
            <a:ln w="12700">
              <a:solidFill>
                <a:srgbClr val="1B2A3B"/>
              </a:solidFill>
              <a:prstDash val="solid"/>
            </a:ln>
          </p:spPr>
          <p:txBody>
            <a:bodyPr/>
            <a:lstStyle/>
            <a:p>
              <a:endParaRPr lang="en-AU" noProof="0" dirty="0"/>
            </a:p>
          </p:txBody>
        </p:sp>
        <p:sp>
          <p:nvSpPr>
            <p:cNvPr id="31" name="Text 9">
              <a:extLst>
                <a:ext uri="{FF2B5EF4-FFF2-40B4-BE49-F238E27FC236}">
                  <a16:creationId xmlns:a16="http://schemas.microsoft.com/office/drawing/2014/main" id="{80B5D815-D978-6993-2971-02D0C9040340}"/>
                </a:ext>
              </a:extLst>
            </p:cNvPr>
            <p:cNvSpPr/>
            <p:nvPr/>
          </p:nvSpPr>
          <p:spPr>
            <a:xfrm>
              <a:off x="4535424" y="2304288"/>
              <a:ext cx="1472184" cy="914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AU" sz="800" b="1" noProof="0" dirty="0">
                  <a:solidFill>
                    <a:srgbClr val="1A2336"/>
                  </a:solidFill>
                  <a:latin typeface="Segoe UI Semibold" pitchFamily="34" charset="0"/>
                  <a:ea typeface="Segoe UI Semibold" pitchFamily="34" charset="-122"/>
                  <a:cs typeface="Segoe UI Semibold" pitchFamily="34" charset="-120"/>
                </a:rPr>
                <a:t>Warm Sand</a:t>
              </a:r>
              <a:endParaRPr lang="en-AU" sz="800" noProof="0" dirty="0"/>
            </a:p>
            <a:p>
              <a:pPr marL="0" indent="0">
                <a:buNone/>
              </a:pPr>
              <a:r>
                <a:rPr lang="en-AU" sz="500" noProof="0" dirty="0">
                  <a:solidFill>
                    <a:srgbClr val="1A2336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Light text</a:t>
              </a:r>
              <a:endParaRPr lang="en-AU" sz="800" noProof="0" dirty="0"/>
            </a:p>
          </p:txBody>
        </p:sp>
        <p:sp>
          <p:nvSpPr>
            <p:cNvPr id="32" name="Shape 11">
              <a:extLst>
                <a:ext uri="{FF2B5EF4-FFF2-40B4-BE49-F238E27FC236}">
                  <a16:creationId xmlns:a16="http://schemas.microsoft.com/office/drawing/2014/main" id="{8B3D28F6-18FA-4E24-2004-B2C823271410}"/>
                </a:ext>
              </a:extLst>
            </p:cNvPr>
            <p:cNvSpPr/>
            <p:nvPr/>
          </p:nvSpPr>
          <p:spPr>
            <a:xfrm>
              <a:off x="6318504" y="2194560"/>
              <a:ext cx="1691640" cy="2194560"/>
            </a:xfrm>
            <a:prstGeom prst="rect">
              <a:avLst/>
            </a:prstGeom>
            <a:solidFill>
              <a:srgbClr val="D4621A"/>
            </a:solidFill>
            <a:ln w="12700">
              <a:solidFill>
                <a:srgbClr val="1B2A3B"/>
              </a:solidFill>
              <a:prstDash val="solid"/>
            </a:ln>
          </p:spPr>
          <p:txBody>
            <a:bodyPr/>
            <a:lstStyle/>
            <a:p>
              <a:endParaRPr lang="en-AU" noProof="0" dirty="0"/>
            </a:p>
          </p:txBody>
        </p:sp>
        <p:sp>
          <p:nvSpPr>
            <p:cNvPr id="33" name="Text 12">
              <a:extLst>
                <a:ext uri="{FF2B5EF4-FFF2-40B4-BE49-F238E27FC236}">
                  <a16:creationId xmlns:a16="http://schemas.microsoft.com/office/drawing/2014/main" id="{C6699BE4-BB64-A55A-8D2D-05FB7A805650}"/>
                </a:ext>
              </a:extLst>
            </p:cNvPr>
            <p:cNvSpPr/>
            <p:nvPr/>
          </p:nvSpPr>
          <p:spPr>
            <a:xfrm>
              <a:off x="6428232" y="2304288"/>
              <a:ext cx="1472184" cy="914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AU" sz="800" b="1" noProof="0" dirty="0">
                  <a:solidFill>
                    <a:srgbClr val="F2EDE4"/>
                  </a:solidFill>
                  <a:latin typeface="Segoe UI Semibold" pitchFamily="34" charset="0"/>
                  <a:ea typeface="Segoe UI Semibold" pitchFamily="34" charset="-122"/>
                  <a:cs typeface="Segoe UI Semibold" pitchFamily="34" charset="-120"/>
                </a:rPr>
                <a:t>Burnt Orange</a:t>
              </a:r>
              <a:endParaRPr lang="en-AU" sz="800" noProof="0" dirty="0"/>
            </a:p>
            <a:p>
              <a:pPr marL="0" indent="0">
                <a:buNone/>
              </a:pPr>
              <a:r>
                <a:rPr lang="en-AU" sz="500" noProof="0" dirty="0">
                  <a:solidFill>
                    <a:srgbClr val="F2EDE4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Highlight</a:t>
              </a:r>
              <a:endParaRPr lang="en-AU" sz="800" noProof="0" dirty="0"/>
            </a:p>
          </p:txBody>
        </p:sp>
        <p:sp>
          <p:nvSpPr>
            <p:cNvPr id="34" name="Shape 14">
              <a:extLst>
                <a:ext uri="{FF2B5EF4-FFF2-40B4-BE49-F238E27FC236}">
                  <a16:creationId xmlns:a16="http://schemas.microsoft.com/office/drawing/2014/main" id="{1F7ADFB3-E1B1-2CF4-11E4-8CD3707CE134}"/>
                </a:ext>
              </a:extLst>
            </p:cNvPr>
            <p:cNvSpPr/>
            <p:nvPr/>
          </p:nvSpPr>
          <p:spPr>
            <a:xfrm>
              <a:off x="8211312" y="2194560"/>
              <a:ext cx="1691640" cy="2194560"/>
            </a:xfrm>
            <a:prstGeom prst="rect">
              <a:avLst/>
            </a:prstGeom>
            <a:solidFill>
              <a:srgbClr val="C49A45"/>
            </a:solidFill>
            <a:ln w="12700">
              <a:solidFill>
                <a:srgbClr val="1B2A3B"/>
              </a:solidFill>
              <a:prstDash val="solid"/>
            </a:ln>
          </p:spPr>
          <p:txBody>
            <a:bodyPr/>
            <a:lstStyle/>
            <a:p>
              <a:endParaRPr lang="en-AU" noProof="0" dirty="0"/>
            </a:p>
          </p:txBody>
        </p:sp>
        <p:sp>
          <p:nvSpPr>
            <p:cNvPr id="35" name="Text 15">
              <a:extLst>
                <a:ext uri="{FF2B5EF4-FFF2-40B4-BE49-F238E27FC236}">
                  <a16:creationId xmlns:a16="http://schemas.microsoft.com/office/drawing/2014/main" id="{977451A6-B05F-65D0-DDC6-B6CFD706D003}"/>
                </a:ext>
              </a:extLst>
            </p:cNvPr>
            <p:cNvSpPr/>
            <p:nvPr/>
          </p:nvSpPr>
          <p:spPr>
            <a:xfrm>
              <a:off x="8321040" y="2304288"/>
              <a:ext cx="1472184" cy="914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AU" sz="800" b="1" noProof="0" dirty="0">
                  <a:solidFill>
                    <a:srgbClr val="1A2336"/>
                  </a:solidFill>
                  <a:latin typeface="Segoe UI Semibold" pitchFamily="34" charset="0"/>
                  <a:ea typeface="Segoe UI Semibold" pitchFamily="34" charset="-122"/>
                  <a:cs typeface="Segoe UI Semibold" pitchFamily="34" charset="-120"/>
                </a:rPr>
                <a:t>Muted Gold</a:t>
              </a:r>
              <a:endParaRPr lang="en-AU" sz="800" noProof="0" dirty="0"/>
            </a:p>
            <a:p>
              <a:pPr marL="0" indent="0">
                <a:buNone/>
              </a:pPr>
              <a:r>
                <a:rPr lang="en-AU" sz="500" noProof="0" dirty="0">
                  <a:solidFill>
                    <a:srgbClr val="1A2336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Subtle accent</a:t>
              </a:r>
              <a:endParaRPr lang="en-AU" sz="800" noProof="0" dirty="0"/>
            </a:p>
          </p:txBody>
        </p:sp>
        <p:sp>
          <p:nvSpPr>
            <p:cNvPr id="36" name="Shape 17">
              <a:extLst>
                <a:ext uri="{FF2B5EF4-FFF2-40B4-BE49-F238E27FC236}">
                  <a16:creationId xmlns:a16="http://schemas.microsoft.com/office/drawing/2014/main" id="{03232368-20DD-8C79-48C2-40E67A9AE5B1}"/>
                </a:ext>
              </a:extLst>
            </p:cNvPr>
            <p:cNvSpPr/>
            <p:nvPr/>
          </p:nvSpPr>
          <p:spPr>
            <a:xfrm>
              <a:off x="10104120" y="2194560"/>
              <a:ext cx="1691640" cy="2194560"/>
            </a:xfrm>
            <a:prstGeom prst="rect">
              <a:avLst/>
            </a:prstGeom>
            <a:solidFill>
              <a:srgbClr val="F2EDE4"/>
            </a:solidFill>
            <a:ln w="12700">
              <a:solidFill>
                <a:srgbClr val="1B2A3B"/>
              </a:solidFill>
              <a:prstDash val="solid"/>
            </a:ln>
          </p:spPr>
          <p:txBody>
            <a:bodyPr/>
            <a:lstStyle/>
            <a:p>
              <a:endParaRPr lang="en-AU" noProof="0" dirty="0"/>
            </a:p>
          </p:txBody>
        </p:sp>
        <p:sp>
          <p:nvSpPr>
            <p:cNvPr id="37" name="Text 18">
              <a:extLst>
                <a:ext uri="{FF2B5EF4-FFF2-40B4-BE49-F238E27FC236}">
                  <a16:creationId xmlns:a16="http://schemas.microsoft.com/office/drawing/2014/main" id="{CF89DA1E-AE6C-74CD-5A77-B60D889DFE28}"/>
                </a:ext>
              </a:extLst>
            </p:cNvPr>
            <p:cNvSpPr/>
            <p:nvPr/>
          </p:nvSpPr>
          <p:spPr>
            <a:xfrm>
              <a:off x="10213848" y="2304288"/>
              <a:ext cx="1472184" cy="914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AU" sz="800" b="1" noProof="0" dirty="0">
                  <a:solidFill>
                    <a:srgbClr val="1A2336"/>
                  </a:solidFill>
                  <a:latin typeface="Segoe UI Semibold" pitchFamily="34" charset="0"/>
                  <a:ea typeface="Segoe UI Semibold" pitchFamily="34" charset="-122"/>
                  <a:cs typeface="Segoe UI Semibold" pitchFamily="34" charset="-120"/>
                </a:rPr>
                <a:t>Off-White</a:t>
              </a:r>
              <a:endParaRPr lang="en-AU" sz="800" noProof="0" dirty="0"/>
            </a:p>
            <a:p>
              <a:pPr marL="0" indent="0">
                <a:buNone/>
              </a:pPr>
              <a:r>
                <a:rPr lang="en-AU" sz="500" noProof="0" dirty="0">
                  <a:solidFill>
                    <a:srgbClr val="1A2336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Body text</a:t>
              </a:r>
              <a:endParaRPr lang="en-AU" sz="800" noProof="0" dirty="0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1428</TotalTime>
  <Words>1810</Words>
  <Application>Microsoft Macintosh PowerPoint</Application>
  <PresentationFormat>Widescreen</PresentationFormat>
  <Paragraphs>241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8" baseType="lpstr">
      <vt:lpstr>Aptos</vt:lpstr>
      <vt:lpstr>Aptos ExtraBold</vt:lpstr>
      <vt:lpstr>Arial</vt:lpstr>
      <vt:lpstr>Cambria Math</vt:lpstr>
      <vt:lpstr>Segoe UI</vt:lpstr>
      <vt:lpstr>Segoe UI Semibold</vt:lpstr>
      <vt:lpstr>Segoe UI Semilight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 Navy &amp; Amber Template</dc:title>
  <dc:subject>PptxGenJS Presentation</dc:subject>
  <dc:creator>Ed</dc:creator>
  <cp:lastModifiedBy>Edward John Domingo</cp:lastModifiedBy>
  <cp:revision>10</cp:revision>
  <dcterms:created xsi:type="dcterms:W3CDTF">2026-06-08T01:14:31Z</dcterms:created>
  <dcterms:modified xsi:type="dcterms:W3CDTF">2026-07-28T11:07:12Z</dcterms:modified>
</cp:coreProperties>
</file>